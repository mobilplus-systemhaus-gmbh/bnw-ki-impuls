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0"/>
  </p:notesMasterIdLst>
  <p:sldIdLst>
    <p:sldId id="256" r:id="rId5"/>
    <p:sldId id="350" r:id="rId6"/>
    <p:sldId id="387" r:id="rId7"/>
    <p:sldId id="404" r:id="rId8"/>
    <p:sldId id="406" r:id="rId9"/>
    <p:sldId id="257" r:id="rId10"/>
    <p:sldId id="258" r:id="rId11"/>
    <p:sldId id="259" r:id="rId12"/>
    <p:sldId id="260" r:id="rId13"/>
    <p:sldId id="261" r:id="rId14"/>
    <p:sldId id="262" r:id="rId15"/>
    <p:sldId id="263" r:id="rId16"/>
    <p:sldId id="264" r:id="rId17"/>
    <p:sldId id="407" r:id="rId18"/>
    <p:sldId id="348" r:id="rId19"/>
  </p:sldIdLst>
  <p:sldSz cx="12192000" cy="6858000"/>
  <p:notesSz cx="6797675" cy="9926638"/>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75287E-7E07-4819-ADB9-9531F45F478A}" v="7" dt="2026-10-06T08:27:51.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Gräbner" userId="4f6af2d5-17df-4f61-af67-7dbc7682dde4" providerId="ADAL" clId="{7B99AF9D-0A6D-4EB7-9550-07E3CA66BE4C}"/>
    <pc:docChg chg="addSld delSld modSld">
      <pc:chgData name="Thomas Gräbner" userId="4f6af2d5-17df-4f61-af67-7dbc7682dde4" providerId="ADAL" clId="{7B99AF9D-0A6D-4EB7-9550-07E3CA66BE4C}" dt="2026-10-06T08:27:51.990" v="10"/>
      <pc:docMkLst>
        <pc:docMk/>
      </pc:docMkLst>
      <pc:sldChg chg="add">
        <pc:chgData name="Thomas Gräbner" userId="4f6af2d5-17df-4f61-af67-7dbc7682dde4" providerId="ADAL" clId="{7B99AF9D-0A6D-4EB7-9550-07E3CA66BE4C}" dt="2026-10-06T08:27:34.081" v="7"/>
        <pc:sldMkLst>
          <pc:docMk/>
          <pc:sldMk cId="1687251349" sldId="348"/>
        </pc:sldMkLst>
      </pc:sldChg>
      <pc:sldChg chg="add">
        <pc:chgData name="Thomas Gräbner" userId="4f6af2d5-17df-4f61-af67-7dbc7682dde4" providerId="ADAL" clId="{7B99AF9D-0A6D-4EB7-9550-07E3CA66BE4C}" dt="2026-10-06T08:26:42.865" v="1"/>
        <pc:sldMkLst>
          <pc:docMk/>
          <pc:sldMk cId="3058812123" sldId="350"/>
        </pc:sldMkLst>
      </pc:sldChg>
      <pc:sldChg chg="add del">
        <pc:chgData name="Thomas Gräbner" userId="4f6af2d5-17df-4f61-af67-7dbc7682dde4" providerId="ADAL" clId="{7B99AF9D-0A6D-4EB7-9550-07E3CA66BE4C}" dt="2026-10-06T08:27:36.130" v="8" actId="47"/>
        <pc:sldMkLst>
          <pc:docMk/>
          <pc:sldMk cId="3813017009" sldId="367"/>
        </pc:sldMkLst>
      </pc:sldChg>
      <pc:sldChg chg="delSp add setBg delDesignElem">
        <pc:chgData name="Thomas Gräbner" userId="4f6af2d5-17df-4f61-af67-7dbc7682dde4" providerId="ADAL" clId="{7B99AF9D-0A6D-4EB7-9550-07E3CA66BE4C}" dt="2026-10-06T08:26:59" v="3"/>
        <pc:sldMkLst>
          <pc:docMk/>
          <pc:sldMk cId="1206251017" sldId="387"/>
        </pc:sldMkLst>
        <pc:spChg chg="del">
          <ac:chgData name="Thomas Gräbner" userId="4f6af2d5-17df-4f61-af67-7dbc7682dde4" providerId="ADAL" clId="{7B99AF9D-0A6D-4EB7-9550-07E3CA66BE4C}" dt="2026-10-06T08:26:59" v="3"/>
          <ac:spMkLst>
            <pc:docMk/>
            <pc:sldMk cId="1206251017" sldId="387"/>
            <ac:spMk id="25" creationId="{9CF7FE1C-8BC5-4B0C-A2BC-93AB72C90FDD}"/>
          </ac:spMkLst>
        </pc:spChg>
      </pc:sldChg>
      <pc:sldChg chg="add">
        <pc:chgData name="Thomas Gräbner" userId="4f6af2d5-17df-4f61-af67-7dbc7682dde4" providerId="ADAL" clId="{7B99AF9D-0A6D-4EB7-9550-07E3CA66BE4C}" dt="2026-10-06T08:27:02.840" v="4"/>
        <pc:sldMkLst>
          <pc:docMk/>
          <pc:sldMk cId="1868572977" sldId="404"/>
        </pc:sldMkLst>
      </pc:sldChg>
      <pc:sldChg chg="delSp add setBg delDesignElem">
        <pc:chgData name="Thomas Gräbner" userId="4f6af2d5-17df-4f61-af67-7dbc7682dde4" providerId="ADAL" clId="{7B99AF9D-0A6D-4EB7-9550-07E3CA66BE4C}" dt="2026-10-06T08:27:51.990" v="10"/>
        <pc:sldMkLst>
          <pc:docMk/>
          <pc:sldMk cId="48653375" sldId="406"/>
        </pc:sldMkLst>
        <pc:spChg chg="del">
          <ac:chgData name="Thomas Gräbner" userId="4f6af2d5-17df-4f61-af67-7dbc7682dde4" providerId="ADAL" clId="{7B99AF9D-0A6D-4EB7-9550-07E3CA66BE4C}" dt="2026-10-06T08:27:51.990" v="10"/>
          <ac:spMkLst>
            <pc:docMk/>
            <pc:sldMk cId="48653375" sldId="406"/>
            <ac:spMk id="79" creationId="{E1A92768-C90D-4200-8975-84CC4D4BC944}"/>
          </ac:spMkLst>
        </pc:spChg>
      </pc:sldChg>
      <pc:sldChg chg="delSp add setBg delDesignElem">
        <pc:chgData name="Thomas Gräbner" userId="4f6af2d5-17df-4f61-af67-7dbc7682dde4" providerId="ADAL" clId="{7B99AF9D-0A6D-4EB7-9550-07E3CA66BE4C}" dt="2026-10-06T08:27:28.665" v="6"/>
        <pc:sldMkLst>
          <pc:docMk/>
          <pc:sldMk cId="1481902966" sldId="407"/>
        </pc:sldMkLst>
        <pc:spChg chg="del">
          <ac:chgData name="Thomas Gräbner" userId="4f6af2d5-17df-4f61-af67-7dbc7682dde4" providerId="ADAL" clId="{7B99AF9D-0A6D-4EB7-9550-07E3CA66BE4C}" dt="2026-10-06T08:27:28.665" v="6"/>
          <ac:spMkLst>
            <pc:docMk/>
            <pc:sldMk cId="1481902966" sldId="407"/>
            <ac:spMk id="24" creationId="{2F19B711-C590-44D1-9AA8-9F143B0ED58A}"/>
          </ac:spMkLst>
        </pc:spChg>
        <pc:spChg chg="del">
          <ac:chgData name="Thomas Gräbner" userId="4f6af2d5-17df-4f61-af67-7dbc7682dde4" providerId="ADAL" clId="{7B99AF9D-0A6D-4EB7-9550-07E3CA66BE4C}" dt="2026-10-06T08:27:28.665" v="6"/>
          <ac:spMkLst>
            <pc:docMk/>
            <pc:sldMk cId="1481902966" sldId="407"/>
            <ac:spMk id="25" creationId="{C0C79CF2-6A1C-4636-84CE-ABB2BE191D23}"/>
          </ac:spMkLst>
        </pc:spChg>
        <pc:spChg chg="del">
          <ac:chgData name="Thomas Gräbner" userId="4f6af2d5-17df-4f61-af67-7dbc7682dde4" providerId="ADAL" clId="{7B99AF9D-0A6D-4EB7-9550-07E3CA66BE4C}" dt="2026-10-06T08:27:28.665" v="6"/>
          <ac:spMkLst>
            <pc:docMk/>
            <pc:sldMk cId="1481902966" sldId="407"/>
            <ac:spMk id="26" creationId="{7A5D17DF-AD65-402C-A95C-F13C770C9FCD}"/>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Zeitaufwand in Minuten</c:v>
          </c:tx>
          <c:spPr>
            <a:solidFill>
              <a:srgbClr val="41B6A3"/>
            </a:solidFill>
          </c:spPr>
          <c:invertIfNegative val="1"/>
          <c:dPt>
            <c:idx val="0"/>
            <c:invertIfNegative val="0"/>
            <c:bubble3D val="0"/>
            <c:spPr>
              <a:solidFill>
                <a:srgbClr val="6C66AC"/>
              </a:solidFill>
            </c:spPr>
            <c:extLst>
              <c:ext xmlns:c16="http://schemas.microsoft.com/office/drawing/2014/chart" uri="{C3380CC4-5D6E-409C-BE32-E72D297353CC}">
                <c16:uniqueId val="{00000001-8D25-453F-B92C-DCCDC2274481}"/>
              </c:ext>
            </c:extLst>
          </c:dPt>
          <c:dPt>
            <c:idx val="1"/>
            <c:invertIfNegative val="0"/>
            <c:bubble3D val="0"/>
            <c:extLst>
              <c:ext xmlns:c16="http://schemas.microsoft.com/office/drawing/2014/chart" uri="{C3380CC4-5D6E-409C-BE32-E72D297353CC}">
                <c16:uniqueId val="{00000003-8D25-453F-B92C-DCCDC2274481}"/>
              </c:ext>
            </c:extLst>
          </c:dPt>
          <c:dPt>
            <c:idx val="2"/>
            <c:invertIfNegative val="0"/>
            <c:bubble3D val="0"/>
            <c:spPr>
              <a:solidFill>
                <a:srgbClr val="E9496E"/>
              </a:solidFill>
            </c:spPr>
            <c:extLst>
              <c:ext xmlns:c16="http://schemas.microsoft.com/office/drawing/2014/chart" uri="{C3380CC4-5D6E-409C-BE32-E72D297353CC}">
                <c16:uniqueId val="{00000005-8D25-453F-B92C-DCCDC2274481}"/>
              </c:ext>
            </c:extLst>
          </c:dPt>
          <c:dLbls>
            <c:spPr>
              <a:noFill/>
              <a:ln>
                <a:noFill/>
              </a:ln>
              <a:effectLst/>
            </c:spPr>
            <c:txPr>
              <a:bodyPr anchorCtr="1"/>
              <a:lstStyle/>
              <a:p>
                <a:pPr>
                  <a:defRPr sz="2100" b="1">
                    <a:solidFill>
                      <a:srgbClr val="000000"/>
                    </a:solidFill>
                    <a:latin typeface="Calibri"/>
                    <a:ea typeface="Calibri"/>
                    <a:cs typeface="Calibri"/>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Inhaltliche
Ideen</c:v>
              </c:pt>
              <c:pt idx="1">
                <c:v>Befehle und
Anweisungen an KI</c:v>
              </c:pt>
              <c:pt idx="2">
                <c:v>Erarbeitung und
Gestaltung der Vorlage</c:v>
              </c:pt>
            </c:strLit>
          </c:cat>
          <c:val>
            <c:numLit>
              <c:formatCode>0" min"</c:formatCode>
              <c:ptCount val="3"/>
              <c:pt idx="0">
                <c:v>30</c:v>
              </c:pt>
              <c:pt idx="1">
                <c:v>20</c:v>
              </c:pt>
              <c:pt idx="2">
                <c:v>15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8D25-453F-B92C-DCCDC2274481}"/>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b"/>
        <c:numFmt formatCode="General" sourceLinked="1"/>
        <c:majorTickMark val="none"/>
        <c:minorTickMark val="none"/>
        <c:tickLblPos val="nextTo"/>
        <c:spPr>
          <a:ln w="0">
            <a:noFill/>
          </a:ln>
        </c:spPr>
        <c:txPr>
          <a:bodyPr anchorCtr="1"/>
          <a:lstStyle/>
          <a:p>
            <a:pPr>
              <a:defRPr sz="1650">
                <a:solidFill>
                  <a:srgbClr val="000000"/>
                </a:solidFill>
                <a:latin typeface="Calibri"/>
                <a:ea typeface="Calibri"/>
                <a:cs typeface="Calibri"/>
              </a:defRPr>
            </a:pPr>
            <a:endParaRPr lang="de-DE"/>
          </a:p>
        </c:txPr>
        <c:crossAx val="48672768"/>
        <c:crosses val="autoZero"/>
        <c:auto val="1"/>
        <c:lblAlgn val="ctr"/>
        <c:lblOffset val="100"/>
        <c:noMultiLvlLbl val="1"/>
      </c:catAx>
      <c:valAx>
        <c:axId val="48672768"/>
        <c:scaling>
          <c:orientation val="minMax"/>
          <c:max val="36"/>
          <c:min val="0"/>
        </c:scaling>
        <c:delete val="0"/>
        <c:axPos val="l"/>
        <c:numFmt formatCode="0&quot; min&quot;" sourceLinked="1"/>
        <c:majorTickMark val="none"/>
        <c:minorTickMark val="none"/>
        <c:tickLblPos val="nextTo"/>
        <c:spPr>
          <a:ln w="0">
            <a:noFill/>
          </a:ln>
        </c:spPr>
        <c:txPr>
          <a:bodyPr anchorCtr="1"/>
          <a:lstStyle/>
          <a:p>
            <a:pPr>
              <a:defRPr>
                <a:solidFill>
                  <a:srgbClr val="666666"/>
                </a:solidFill>
                <a:latin typeface="Calibri"/>
                <a:ea typeface="Calibri"/>
                <a:cs typeface="Calibri"/>
              </a:defRPr>
            </a:pPr>
            <a:endParaRPr lang="de-DE"/>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Sprechzeit: ca. 30 Sekunden</a:t>
            </a:r>
          </a:p>
          <a:p>
            <a:endParaRPr/>
          </a:p>
          <a:p>
            <a:r>
              <a:t>Liebe Unternehmerinnen und Unternehmer, liebe Mitglieder und Gäste, herzlich willkommen zu unserem KI-Auftakt im Business Netzwerk Wilsdruff. Schön, dass Sie sich heute Zeit nehmen. Wir möchten das Thema gemeinsam auf unsere Unternehmen herunterbrechen und einen ersten Zugang schaffen. Vielen Dank auch an unsere Experten, die ihre Erfahrung in diese Veranstaltungsreihe einbringen.</a:t>
            </a:r>
          </a:p>
          <a:p>
            <a:endParaRPr/>
          </a:p>
          <a:p>
            <a:r>
              <a:t>Grundlage: Thomas_Einleitung Vereinstreffen KI.docx und ergänzende Angaben des Gastgebers zu den Experten.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Sprechzeit: ca. 55 Sekunden</a:t>
            </a:r>
          </a:p>
          <a:p>
            <a:endParaRPr/>
          </a:p>
          <a:p>
            <a:r>
              <a:t>Zum Einstieg eine bewusst zugespitzte Frage: Was, wenn Ihr Wettbewerber morgen plötzlich doppelt so schnell ist? Kurze Pause und Blick ins Publikum. Gemeint ist kein Versprechen, dass KI jedes Unternehmen doppelt so schnell macht. Die Frage soll zeigen, warum wir uns mit ihr beschäftigen. In meinen Notizen steht das Bild vom großen Elefanten im Raum: Über KI wird viel gesprochen. Wie sie sich sinnvoll im eigenen Betrieb nutzen lässt, bleibt für viele noch offen. Genau dort wollen wir heute ansetzen.</a:t>
            </a:r>
          </a:p>
          <a:p>
            <a:endParaRPr/>
          </a:p>
          <a:p>
            <a:r>
              <a:t>Grundlage: Thomas_Einleitung Vereinstreffen KI.docx und ergänzende Angaben des Gastgebers zu den Experten.</a:t>
            </a:r>
          </a:p>
          <a:p>
            <a:r>
              <a:t>Bild: KI-generierte Illustration, keine Darstellung einer realen Veranstaltung.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Sprechzeit: ca. 55 Sekunden</a:t>
            </a:r>
          </a:p>
          <a:p>
            <a:endParaRPr/>
          </a:p>
          <a:p>
            <a:r>
              <a:t>Die deutsche Industrie zeigt, was passiert, wenn bisherige Geschäftsmodelle nicht mehr ausreichend tragen. Die Gründe sind vielseitig: Es gibt hausgemachte Herausforderungen und Veränderungen auf den Weltmärkten. In meinen Notizen nenne ich etwa 125.000 verlorene Arbeitsplätze im vergangenen Jahr. Präzise weist das EY-Industriebarometer für 2025 einen Rückgang der Beschäftigtenzahl um 124.100 aus. Das ist ein Hinweis auf den wirtschaftlichen Druck, keine Aussage, dass KI diesen Stellenabbau verursacht hat.</a:t>
            </a:r>
          </a:p>
          <a:p>
            <a:endParaRPr/>
          </a:p>
          <a:p>
            <a:r>
              <a:t>Meine Schlussfolgerung als Gastgeber: Um den Anschluss zu halten, müssen wir Veränderung ermöglichen. Impulse kommen häufig von der Führung und von großen Unternehmen. Aber Transformation muss auch bei kleineren Betrieben ankommen. Genau dazu können wir im Netzwerk einen Beitrag leisten.</a:t>
            </a:r>
          </a:p>
          <a:p>
            <a:endParaRPr/>
          </a:p>
          <a:p>
            <a:r>
              <a:t>Grundlage: Thomas_Einleitung Vereinstreffen KI.docx. Wirtschaftspolitische Einordnung und Schlussfolgerung: Gedanken des Gastgebers.</a:t>
            </a:r>
          </a:p>
          <a:p>
            <a:r>
              <a:t>Zahlenprüfung: EY, Umsatzrückgänge und Arbeitsplatzabbau in der deutschen Industrie, 17.02.2026. Die Analyse verwendet Rohdaten des Statistischen Bundesamtes. https://www.ey.com/de_de/newsroom/2026/02/ey-industriebarometer-q4-2025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Sprechzeit: ca. 65 Sekunden</a:t>
            </a:r>
          </a:p>
          <a:p>
            <a:endParaRPr/>
          </a:p>
          <a:p>
            <a:r>
              <a:t>Bei der Entwicklung und wirtschaftlichen Nutzung großer Sprachmodelle sehe ich in Europa einen deutlichen Aufholbedarf. Gleichzeitig möchte ich die Chancen Deutschlands betonen: In industriellen Anwendungen können wir vorhandenes Know-how, eine gute Datenbasis und Forschung miteinander verbinden. Das ist für mich eine Chance, wieder näher an die Weltspitze anzuschließen. Ein Erfolg ist damit noch nicht garantiert.</a:t>
            </a:r>
          </a:p>
          <a:p>
            <a:endParaRPr/>
          </a:p>
          <a:p>
            <a:r>
              <a:t>Aus meiner Sicht brauchen wir dafür passende Rahmenbedingungen: weniger regulatorische Hürden, bezahlbare Energie, eine leistungsfähige IT-Infrastruktur, einen flexibleren Arbeitsmarkt und Wagniskapital. Diese Punkte greifen meine Gedanken zur wirtschaftlichen Transformation auf.</a:t>
            </a:r>
          </a:p>
          <a:p>
            <a:endParaRPr/>
          </a:p>
          <a:p>
            <a:r>
              <a:t>Was hat das mit uns zu tun? Wir werden in unseren Betrieben in der Regel keine eigenen großen KI-Modelle entwickeln. Aber wir können die Technologien sinnvoll anwenden und an der Basis unseres unternehmerischen Handelns die Weichen für die Zukunft stellen. Damit kommen wir zum eigenen Unternehmen und seinen Abläufen.</a:t>
            </a:r>
          </a:p>
          <a:p>
            <a:endParaRPr/>
          </a:p>
          <a:p>
            <a:r>
              <a:t>Grundlage: Thomas_Einleitung Vereinstreffen KI.docx. Die Standortbewertung und wirtschaftspolitischen Forderungen geben die Sicht des Gastgebers wieder.</a:t>
            </a:r>
          </a:p>
          <a:p>
            <a:r>
              <a:t>Fachliche Einordnung zur industriellen KI: Bundesbericht Forschung und Innovation 2026, Abschnitt 1.3.1. https://www.bundesbericht-forschung-innovation.de/bundesbericht-2026/1-forschungs-und-innovationspolitische-leitlinien-der-bundesregierung/</a:t>
            </a:r>
          </a:p>
          <a:p>
            <a:r>
              <a:t>Weitere Einordnung zu Infrastruktur, Energiekosten, regulatorischen Hürden und Finanzierung: BMWE, Empfehlungen der Expertenkommission Wettbewerb und Künstliche Intelligenz, 28.04.2026. https://www.bundeswirtschaftsministerium.de/Redaktion/DE/Pressemitteilungen/2026/04/20260428-abschlusssitzung-der-expertenkommission-wettbewerb-und-kuenstliche-intelligenz.html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Sprechzeit: ca. 55 Sekunden</a:t>
            </a:r>
          </a:p>
          <a:p>
            <a:endParaRPr/>
          </a:p>
          <a:p>
            <a:r>
              <a:t>Der wirtschaftliche Wandel wirft eine sehr konkrete Frage auf: Welche Abläufe tragen uns in Zukunft? Wir müssen keine eigenen Sprachmodelle entwickeln, um im Unternehmen etwas zu bewegen. Wir können aber die Weichen dafür stellen, KI sinnvoll anzuwenden. Das beginnt bei unternehmerischen Entscheidungen und bei der Bereitschaft, vertraute Abläufe zu hinterfragen. Natürlich gelingt das nicht mit einem einzigen Vortrag. Es geht um schrittweise Veränderung. Wenn wir nur darauf schauen, was wir erhalten möchten, übersehen wir möglicherweise Chancen vor uns.</a:t>
            </a:r>
          </a:p>
          <a:p>
            <a:endParaRPr/>
          </a:p>
          <a:p>
            <a:r>
              <a:t>Grundlage: Thomas_Einleitung Vereinstreffen KI.docx und ergänzende Angaben des Gastgebers zu den Experten.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Sprechzeit: ca. 55 Sekunden</a:t>
            </a:r>
          </a:p>
          <a:p>
            <a:endParaRPr/>
          </a:p>
          <a:p>
            <a:r>
              <a:t>Wo kann der Einstieg liegen? Zum Beispiel bei wiederkehrenden Aufgaben und Dokumenten, beim Zeitaufwand in Abläufen, bei der Unterstützung von Qualitätsprüfungen oder beim Vorbereiten von Antworten im Service. Das sind mögliche Einsatzfelder, keine garantierten Ergebnisse. Gerade wenn Personal knapp ist, lohnt sich die Frage, wo Mitarbeiterinnen und Mitarbeiter Entlastung brauchen. Für mich ist entscheidend: Wir beginnen beim konkreten Bedarf des Unternehmens. Dann prüfen wir, ob KI dabei hilft und wie wir Ergebnisse zuverlässig kontrollieren. Die Fachbeiträge werden diese Fragen vertiefen.</a:t>
            </a:r>
          </a:p>
          <a:p>
            <a:endParaRPr/>
          </a:p>
          <a:p>
            <a:r>
              <a:t>Grundlage: Thomas_Einleitung Vereinstreffen KI.docx und ergänzende Angaben des Gastgebers zu den Experten.</a:t>
            </a:r>
          </a:p>
          <a:p>
            <a:r>
              <a:t>Icons: KI-generierte Illustrationen zur Veranschaulichung möglicher Einsatzfelder.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Sprechzeit: ca. 45 Sekunden</a:t>
            </a:r>
          </a:p>
          <a:p>
            <a:endParaRPr/>
          </a:p>
          <a:p>
            <a:r>
              <a:t>Es gibt bereits viele Formate, Vorträge und Diskussionen über KI. Unser Beitrag als Business Netzwerk Wilsdruff soll nah an Ihnen und an unserer Region sein. Wir wollen konzentrierte Informationen mit branchenspezifischen Ansätzen verbinden. Und wir haben etwas, das über den einzelnen Vortrag hinausgeht: unser Netzwerk. Hier können wir Erfahrungen teilen, Fragen stellen und Unterstützung finden. Heute ist der Auftakt. Die Reihe soll helfen, das große Thema Schritt für Schritt für den eigenen Betrieb greifbar zu machen.</a:t>
            </a:r>
          </a:p>
          <a:p>
            <a:endParaRPr/>
          </a:p>
          <a:p>
            <a:r>
              <a:t>Grundlage: Thomas_Einleitung Vereinstreffen KI.docx und ergänzende Angaben des Gastgebers zu den Experten.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Sprechzeit: ca. 45 Sekunden</a:t>
            </a:r>
          </a:p>
          <a:p>
            <a:endParaRPr/>
          </a:p>
          <a:p>
            <a:r>
              <a:t>Für unsere Veranstaltungsreihe stehen uns Experten zur Seite: Frank Winkler, Geschäftsführer der mobilplus Systemhaus GmbH, Bastian Rehbein, Geschäftsführer der Blacksand GmbH, sowie Gustav Bieberstein, Business Processes Consultant Business AI. Vielen Dank für Ihre Bereitschaft, Wissen und Erfahrung mit unserem Netzwerk zu teilen. Ich wünsche uns konkrete Anregungen, gute Fragen und einen offenen Austausch. Damit übergebe ich an unsere Referenten.</a:t>
            </a:r>
          </a:p>
          <a:p>
            <a:endParaRPr/>
          </a:p>
          <a:p>
            <a:r>
              <a:t>Die Übersicht umfasst die genannten Experten der Reihe. Die tatsächliche Zuordnung zu heutigen und späteren Veranstaltungen sowie die Vortragsreihenfolge vor Ort berücksichtigen.</a:t>
            </a:r>
          </a:p>
          <a:p>
            <a:endParaRPr/>
          </a:p>
          <a:p>
            <a:r>
              <a:t>Grundlage: Thomas_Einleitung Vereinstreffen KI.docx und ergänzende Angaben des Gastgebers zu den Experten.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Sprechzeit: ca. 30 Sekunden</a:t>
            </a:r>
          </a:p>
          <a:p>
            <a:endParaRPr/>
          </a:p>
          <a:p>
            <a:r>
              <a:t>Zum Abschluss noch ein konkretes Beispiel: Auch diese Präsentation entstand mit Unterstützung von KI. Die inhaltlichen Ideen habe ich selbst erarbeitet. Dafür veranschlage ich 30 Minuten. Für die Eingabe der Befehle und Anweisungen an die KI kamen etwa 20 Minuten hinzu. Erarbeitung und Gestaltung der Vorlage veranschlage ich mit etwa 15 Minuten. Zusammen sind das rund 65 Minuten. Ohne KI schätze ich den Aufwand auf zwei bis drei Stunden. Die KI hat mich bei der Ausarbeitung und Gestaltung unterstützt. Die Gedanken und die Verantwortung für die Inhalte bleiben bei mir.</a:t>
            </a:r>
          </a:p>
          <a:p>
            <a:endParaRPr/>
          </a:p>
          <a:p>
            <a:r>
              <a:t>Alle Zeitangaben und die Schätzung ohne KI stammen vom Gastgeber. Der Gesamtwert 65 Minuten ergibt sich aus 30 + 20 + 15 Minuten. Die bereits vorhandene Gestaltungsvorlage des Business Netzwerks Wilsdruff diente als Grundlage.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0A0FE9-F56C-471F-B987-55D6D4EBC9B1}"/>
              </a:ext>
            </a:extLst>
          </p:cNvPr>
          <p:cNvSpPr>
            <a:spLocks noGrp="1"/>
          </p:cNvSpPr>
          <p:nvPr>
            <p:ph type="ctrTitle"/>
          </p:nvPr>
        </p:nvSpPr>
        <p:spPr>
          <a:xfrm>
            <a:off x="1524000" y="1122363"/>
            <a:ext cx="9144000" cy="2387600"/>
          </a:xfrm>
        </p:spPr>
        <p:txBody>
          <a:bodyPr anchor="b"/>
          <a:lstStyle>
            <a:lvl1pPr algn="ctr">
              <a:buNone/>
              <a:defRPr sz="6000"/>
            </a:lvl1pPr>
          </a:lstStyle>
          <a:p>
            <a:r>
              <a:t>Titelmasterformat durch Klicken bearbeiten</a:t>
            </a:r>
          </a:p>
        </p:txBody>
      </p:sp>
      <p:sp>
        <p:nvSpPr>
          <p:cNvPr id="3" name="Untertitel 2">
            <a:extLst>
              <a:ext uri="{FF2B5EF4-FFF2-40B4-BE49-F238E27FC236}">
                <a16:creationId xmlns:a16="http://schemas.microsoft.com/office/drawing/2014/main" id="{9834A836-AE60-4295-84F5-E4F18E7299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Formatvorlage des Untertitelmasters durch Klicken bearbeiten</a:t>
            </a:r>
          </a:p>
        </p:txBody>
      </p:sp>
      <p:sp>
        <p:nvSpPr>
          <p:cNvPr id="4" name="Datumsplatzhalter 3">
            <a:extLst>
              <a:ext uri="{FF2B5EF4-FFF2-40B4-BE49-F238E27FC236}">
                <a16:creationId xmlns:a16="http://schemas.microsoft.com/office/drawing/2014/main" id="{DE136EC9-1BAD-4BD7-8133-4EC260EAA056}"/>
              </a:ext>
            </a:extLst>
          </p:cNvPr>
          <p:cNvSpPr>
            <a:spLocks noGrp="1"/>
          </p:cNvSpPr>
          <p:nvPr>
            <p:ph type="dt" idx="10"/>
          </p:nvPr>
        </p:nvSpPr>
        <p:spPr/>
        <p:txBody>
          <a:bodyPr/>
          <a:lstStyle/>
          <a:p>
            <a:fld id="{727B1AE3-8886-4348-8A4E-818CB4B39E1C}" type="datetimeFigureOut">
              <a:t>06.10.2026</a:t>
            </a:fld>
            <a:endParaRPr/>
          </a:p>
        </p:txBody>
      </p:sp>
      <p:sp>
        <p:nvSpPr>
          <p:cNvPr id="5" name="Fußzeilenplatzhalter 4">
            <a:extLst>
              <a:ext uri="{FF2B5EF4-FFF2-40B4-BE49-F238E27FC236}">
                <a16:creationId xmlns:a16="http://schemas.microsoft.com/office/drawing/2014/main" id="{8521E369-BCC6-462F-B7DB-3973ECB852CA}"/>
              </a:ext>
            </a:extLst>
          </p:cNvPr>
          <p:cNvSpPr>
            <a:spLocks noGrp="1"/>
          </p:cNvSpPr>
          <p:nvPr>
            <p:ph type="ftr" idx="11"/>
          </p:nvPr>
        </p:nvSpPr>
        <p:spPr/>
        <p:txBody>
          <a:bodyPr/>
          <a:lstStyle/>
          <a:p>
            <a:endParaRPr/>
          </a:p>
        </p:txBody>
      </p:sp>
      <p:sp>
        <p:nvSpPr>
          <p:cNvPr id="6" name="Foliennummernplatzhalter 5">
            <a:extLst>
              <a:ext uri="{FF2B5EF4-FFF2-40B4-BE49-F238E27FC236}">
                <a16:creationId xmlns:a16="http://schemas.microsoft.com/office/drawing/2014/main" id="{322C17E3-1B04-4428-BBE2-EB9B8DC0C115}"/>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825EB3-155C-48F6-A9BD-8639291F1234}"/>
              </a:ext>
            </a:extLst>
          </p:cNvPr>
          <p:cNvSpPr>
            <a:spLocks noGrp="1"/>
          </p:cNvSpPr>
          <p:nvPr>
            <p:ph type="title"/>
          </p:nvPr>
        </p:nvSpPr>
        <p:spPr/>
        <p:txBody>
          <a:bodyPr/>
          <a:lstStyle/>
          <a:p>
            <a:r>
              <a:t>Titelmasterformat durch Klicken bearbeiten</a:t>
            </a:r>
          </a:p>
        </p:txBody>
      </p:sp>
      <p:sp>
        <p:nvSpPr>
          <p:cNvPr id="3" name="Inhaltsplatzhalter 2">
            <a:extLst>
              <a:ext uri="{FF2B5EF4-FFF2-40B4-BE49-F238E27FC236}">
                <a16:creationId xmlns:a16="http://schemas.microsoft.com/office/drawing/2014/main" id="{8B57FE9A-EDC4-4589-A258-D843110B0427}"/>
              </a:ext>
            </a:extLst>
          </p:cNvPr>
          <p:cNvSpPr>
            <a:spLocks noGrp="1"/>
          </p:cNvSpPr>
          <p:nvPr>
            <p:ph idx="1"/>
          </p:nvPr>
        </p:nvSpPr>
        <p:spPr/>
        <p:txBody>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6572C4CE-AA18-4931-A01E-995CD64999D7}"/>
              </a:ext>
            </a:extLst>
          </p:cNvPr>
          <p:cNvSpPr>
            <a:spLocks noGrp="1"/>
          </p:cNvSpPr>
          <p:nvPr>
            <p:ph type="dt" idx="10"/>
          </p:nvPr>
        </p:nvSpPr>
        <p:spPr/>
        <p:txBody>
          <a:bodyPr/>
          <a:lstStyle/>
          <a:p>
            <a:fld id="{727B1AE3-8886-4348-8A4E-818CB4B39E1C}" type="datetimeFigureOut">
              <a:t>06.10.2026</a:t>
            </a:fld>
            <a:endParaRPr/>
          </a:p>
        </p:txBody>
      </p:sp>
      <p:sp>
        <p:nvSpPr>
          <p:cNvPr id="5" name="Fußzeilenplatzhalter 4">
            <a:extLst>
              <a:ext uri="{FF2B5EF4-FFF2-40B4-BE49-F238E27FC236}">
                <a16:creationId xmlns:a16="http://schemas.microsoft.com/office/drawing/2014/main" id="{A3DC6475-BABA-4AFF-A9AA-3FC264C4E4BE}"/>
              </a:ext>
            </a:extLst>
          </p:cNvPr>
          <p:cNvSpPr>
            <a:spLocks noGrp="1"/>
          </p:cNvSpPr>
          <p:nvPr>
            <p:ph type="ftr" idx="11"/>
          </p:nvPr>
        </p:nvSpPr>
        <p:spPr/>
        <p:txBody>
          <a:bodyPr/>
          <a:lstStyle/>
          <a:p>
            <a:endParaRPr/>
          </a:p>
        </p:txBody>
      </p:sp>
      <p:sp>
        <p:nvSpPr>
          <p:cNvPr id="6" name="Foliennummernplatzhalter 5">
            <a:extLst>
              <a:ext uri="{FF2B5EF4-FFF2-40B4-BE49-F238E27FC236}">
                <a16:creationId xmlns:a16="http://schemas.microsoft.com/office/drawing/2014/main" id="{FB4E6F06-36F2-458D-B656-B3957CE02918}"/>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D56E1-196F-44F7-8F46-F3F1CDF8E848}"/>
              </a:ext>
            </a:extLst>
          </p:cNvPr>
          <p:cNvSpPr>
            <a:spLocks noGrp="1"/>
          </p:cNvSpPr>
          <p:nvPr>
            <p:ph type="title"/>
          </p:nvPr>
        </p:nvSpPr>
        <p:spPr>
          <a:xfrm>
            <a:off x="831850" y="1709738"/>
            <a:ext cx="10515600" cy="2852737"/>
          </a:xfrm>
        </p:spPr>
        <p:txBody>
          <a:bodyPr anchor="b"/>
          <a:lstStyle>
            <a:lvl1pPr>
              <a:buNone/>
              <a:defRPr sz="6000"/>
            </a:lvl1pPr>
          </a:lstStyle>
          <a:p>
            <a:r>
              <a:t>Titelmasterformat durch Klicken bearbeiten</a:t>
            </a:r>
          </a:p>
        </p:txBody>
      </p:sp>
      <p:sp>
        <p:nvSpPr>
          <p:cNvPr id="3" name="Textplatzhalter 2">
            <a:extLst>
              <a:ext uri="{FF2B5EF4-FFF2-40B4-BE49-F238E27FC236}">
                <a16:creationId xmlns:a16="http://schemas.microsoft.com/office/drawing/2014/main" id="{C66F7541-FFA7-467A-8451-30416E7E4D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Textmasterformat bearbeiten</a:t>
            </a:r>
          </a:p>
        </p:txBody>
      </p:sp>
      <p:sp>
        <p:nvSpPr>
          <p:cNvPr id="4" name="Datumsplatzhalter 3">
            <a:extLst>
              <a:ext uri="{FF2B5EF4-FFF2-40B4-BE49-F238E27FC236}">
                <a16:creationId xmlns:a16="http://schemas.microsoft.com/office/drawing/2014/main" id="{3441180C-873D-4082-95EC-E44C28A004E7}"/>
              </a:ext>
            </a:extLst>
          </p:cNvPr>
          <p:cNvSpPr>
            <a:spLocks noGrp="1"/>
          </p:cNvSpPr>
          <p:nvPr>
            <p:ph type="dt" idx="10"/>
          </p:nvPr>
        </p:nvSpPr>
        <p:spPr/>
        <p:txBody>
          <a:bodyPr/>
          <a:lstStyle/>
          <a:p>
            <a:fld id="{727B1AE3-8886-4348-8A4E-818CB4B39E1C}" type="datetimeFigureOut">
              <a:t>06.10.2026</a:t>
            </a:fld>
            <a:endParaRPr/>
          </a:p>
        </p:txBody>
      </p:sp>
      <p:sp>
        <p:nvSpPr>
          <p:cNvPr id="5" name="Fußzeilenplatzhalter 4">
            <a:extLst>
              <a:ext uri="{FF2B5EF4-FFF2-40B4-BE49-F238E27FC236}">
                <a16:creationId xmlns:a16="http://schemas.microsoft.com/office/drawing/2014/main" id="{6DF42BFF-B29F-45E6-ACB1-27828688F656}"/>
              </a:ext>
            </a:extLst>
          </p:cNvPr>
          <p:cNvSpPr>
            <a:spLocks noGrp="1"/>
          </p:cNvSpPr>
          <p:nvPr>
            <p:ph type="ftr" idx="11"/>
          </p:nvPr>
        </p:nvSpPr>
        <p:spPr/>
        <p:txBody>
          <a:bodyPr/>
          <a:lstStyle/>
          <a:p>
            <a:endParaRPr/>
          </a:p>
        </p:txBody>
      </p:sp>
      <p:sp>
        <p:nvSpPr>
          <p:cNvPr id="6" name="Foliennummernplatzhalter 5">
            <a:extLst>
              <a:ext uri="{FF2B5EF4-FFF2-40B4-BE49-F238E27FC236}">
                <a16:creationId xmlns:a16="http://schemas.microsoft.com/office/drawing/2014/main" id="{48D1AA10-681E-4ACB-AD80-A8E5BEEDCACA}"/>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707789-5170-4662-9C22-4C4503522689}"/>
              </a:ext>
            </a:extLst>
          </p:cNvPr>
          <p:cNvSpPr>
            <a:spLocks noGrp="1"/>
          </p:cNvSpPr>
          <p:nvPr>
            <p:ph type="title"/>
          </p:nvPr>
        </p:nvSpPr>
        <p:spPr/>
        <p:txBody>
          <a:bodyPr/>
          <a:lstStyle/>
          <a:p>
            <a:r>
              <a:t>Titelmasterformat durch Klicken bearbeiten</a:t>
            </a:r>
          </a:p>
        </p:txBody>
      </p:sp>
      <p:sp>
        <p:nvSpPr>
          <p:cNvPr id="3" name="Inhaltsplatzhalter 2">
            <a:extLst>
              <a:ext uri="{FF2B5EF4-FFF2-40B4-BE49-F238E27FC236}">
                <a16:creationId xmlns:a16="http://schemas.microsoft.com/office/drawing/2014/main" id="{0DC014D6-17D4-48EC-9414-D1131679C2E3}"/>
              </a:ext>
            </a:extLst>
          </p:cNvPr>
          <p:cNvSpPr>
            <a:spLocks noGrp="1"/>
          </p:cNvSpPr>
          <p:nvPr>
            <p:ph idx="1"/>
          </p:nvPr>
        </p:nvSpPr>
        <p:spPr>
          <a:xfrm>
            <a:off x="838200" y="1825625"/>
            <a:ext cx="5181600" cy="4351338"/>
          </a:xfrm>
        </p:spPr>
        <p:txBody>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Inhaltsplatzhalter 3">
            <a:extLst>
              <a:ext uri="{FF2B5EF4-FFF2-40B4-BE49-F238E27FC236}">
                <a16:creationId xmlns:a16="http://schemas.microsoft.com/office/drawing/2014/main" id="{5BFDBC38-49FC-47A7-AAD4-30CCED1E4F35}"/>
              </a:ext>
            </a:extLst>
          </p:cNvPr>
          <p:cNvSpPr>
            <a:spLocks noGrp="1"/>
          </p:cNvSpPr>
          <p:nvPr>
            <p:ph idx="2"/>
          </p:nvPr>
        </p:nvSpPr>
        <p:spPr>
          <a:xfrm>
            <a:off x="6172200" y="1825625"/>
            <a:ext cx="5181600" cy="4351338"/>
          </a:xfrm>
        </p:spPr>
        <p:txBody>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Datumsplatzhalter 4">
            <a:extLst>
              <a:ext uri="{FF2B5EF4-FFF2-40B4-BE49-F238E27FC236}">
                <a16:creationId xmlns:a16="http://schemas.microsoft.com/office/drawing/2014/main" id="{749CFE85-76E8-4746-AC5D-B22571A66FF9}"/>
              </a:ext>
            </a:extLst>
          </p:cNvPr>
          <p:cNvSpPr>
            <a:spLocks noGrp="1"/>
          </p:cNvSpPr>
          <p:nvPr>
            <p:ph type="dt" idx="10"/>
          </p:nvPr>
        </p:nvSpPr>
        <p:spPr/>
        <p:txBody>
          <a:bodyPr/>
          <a:lstStyle/>
          <a:p>
            <a:fld id="{727B1AE3-8886-4348-8A4E-818CB4B39E1C}" type="datetimeFigureOut">
              <a:t>06.10.2026</a:t>
            </a:fld>
            <a:endParaRPr/>
          </a:p>
        </p:txBody>
      </p:sp>
      <p:sp>
        <p:nvSpPr>
          <p:cNvPr id="6" name="Fußzeilenplatzhalter 5">
            <a:extLst>
              <a:ext uri="{FF2B5EF4-FFF2-40B4-BE49-F238E27FC236}">
                <a16:creationId xmlns:a16="http://schemas.microsoft.com/office/drawing/2014/main" id="{50A4014F-E9B5-4A81-9A57-49EF1668CDF7}"/>
              </a:ext>
            </a:extLst>
          </p:cNvPr>
          <p:cNvSpPr>
            <a:spLocks noGrp="1"/>
          </p:cNvSpPr>
          <p:nvPr>
            <p:ph type="ftr" idx="11"/>
          </p:nvPr>
        </p:nvSpPr>
        <p:spPr/>
        <p:txBody>
          <a:bodyPr/>
          <a:lstStyle/>
          <a:p>
            <a:endParaRPr/>
          </a:p>
        </p:txBody>
      </p:sp>
      <p:sp>
        <p:nvSpPr>
          <p:cNvPr id="7" name="Foliennummernplatzhalter 6">
            <a:extLst>
              <a:ext uri="{FF2B5EF4-FFF2-40B4-BE49-F238E27FC236}">
                <a16:creationId xmlns:a16="http://schemas.microsoft.com/office/drawing/2014/main" id="{D46EAE89-FBBF-4146-94B3-BAE49CAB5054}"/>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52ADF-FAA7-4557-8B62-218CB9A182EC}"/>
              </a:ext>
            </a:extLst>
          </p:cNvPr>
          <p:cNvSpPr>
            <a:spLocks noGrp="1"/>
          </p:cNvSpPr>
          <p:nvPr>
            <p:ph type="title"/>
          </p:nvPr>
        </p:nvSpPr>
        <p:spPr>
          <a:xfrm>
            <a:off x="839788" y="365125"/>
            <a:ext cx="10515600" cy="1325563"/>
          </a:xfrm>
        </p:spPr>
        <p:txBody>
          <a:bodyPr/>
          <a:lstStyle/>
          <a:p>
            <a:r>
              <a:t>Titelmasterformat durch Klicken bearbeiten</a:t>
            </a:r>
          </a:p>
        </p:txBody>
      </p:sp>
      <p:sp>
        <p:nvSpPr>
          <p:cNvPr id="3" name="Textplatzhalter 2">
            <a:extLst>
              <a:ext uri="{FF2B5EF4-FFF2-40B4-BE49-F238E27FC236}">
                <a16:creationId xmlns:a16="http://schemas.microsoft.com/office/drawing/2014/main" id="{2FAEED67-172F-4269-A7FC-D95D566ADE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Textmasterformat bearbeiten</a:t>
            </a:r>
          </a:p>
        </p:txBody>
      </p:sp>
      <p:sp>
        <p:nvSpPr>
          <p:cNvPr id="4" name="Inhaltsplatzhalter 3">
            <a:extLst>
              <a:ext uri="{FF2B5EF4-FFF2-40B4-BE49-F238E27FC236}">
                <a16:creationId xmlns:a16="http://schemas.microsoft.com/office/drawing/2014/main" id="{41C63E3D-38FB-47B4-9705-BB8AFD31F4A9}"/>
              </a:ext>
            </a:extLst>
          </p:cNvPr>
          <p:cNvSpPr>
            <a:spLocks noGrp="1"/>
          </p:cNvSpPr>
          <p:nvPr>
            <p:ph idx="2"/>
          </p:nvPr>
        </p:nvSpPr>
        <p:spPr>
          <a:xfrm>
            <a:off x="839788" y="2505075"/>
            <a:ext cx="5157787" cy="3684588"/>
          </a:xfrm>
        </p:spPr>
        <p:txBody>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Textplatzhalter 4">
            <a:extLst>
              <a:ext uri="{FF2B5EF4-FFF2-40B4-BE49-F238E27FC236}">
                <a16:creationId xmlns:a16="http://schemas.microsoft.com/office/drawing/2014/main" id="{FE7D91C2-F020-43CD-A584-7BC04AFA6F6C}"/>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Textmasterformat bearbeiten</a:t>
            </a:r>
          </a:p>
        </p:txBody>
      </p:sp>
      <p:sp>
        <p:nvSpPr>
          <p:cNvPr id="6" name="Inhaltsplatzhalter 5">
            <a:extLst>
              <a:ext uri="{FF2B5EF4-FFF2-40B4-BE49-F238E27FC236}">
                <a16:creationId xmlns:a16="http://schemas.microsoft.com/office/drawing/2014/main" id="{E560C0F8-0360-49CB-B24F-851863F79BF9}"/>
              </a:ext>
            </a:extLst>
          </p:cNvPr>
          <p:cNvSpPr>
            <a:spLocks noGrp="1"/>
          </p:cNvSpPr>
          <p:nvPr>
            <p:ph idx="4"/>
          </p:nvPr>
        </p:nvSpPr>
        <p:spPr>
          <a:xfrm>
            <a:off x="6172200" y="2505075"/>
            <a:ext cx="5183188" cy="3684588"/>
          </a:xfrm>
        </p:spPr>
        <p:txBody>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7" name="Datumsplatzhalter 6">
            <a:extLst>
              <a:ext uri="{FF2B5EF4-FFF2-40B4-BE49-F238E27FC236}">
                <a16:creationId xmlns:a16="http://schemas.microsoft.com/office/drawing/2014/main" id="{0E189846-CDFD-49CA-98B3-98BF9649D69F}"/>
              </a:ext>
            </a:extLst>
          </p:cNvPr>
          <p:cNvSpPr>
            <a:spLocks noGrp="1"/>
          </p:cNvSpPr>
          <p:nvPr>
            <p:ph type="dt" idx="10"/>
          </p:nvPr>
        </p:nvSpPr>
        <p:spPr/>
        <p:txBody>
          <a:bodyPr/>
          <a:lstStyle/>
          <a:p>
            <a:fld id="{727B1AE3-8886-4348-8A4E-818CB4B39E1C}" type="datetimeFigureOut">
              <a:t>06.10.2026</a:t>
            </a:fld>
            <a:endParaRPr/>
          </a:p>
        </p:txBody>
      </p:sp>
      <p:sp>
        <p:nvSpPr>
          <p:cNvPr id="8" name="Fußzeilenplatzhalter 7">
            <a:extLst>
              <a:ext uri="{FF2B5EF4-FFF2-40B4-BE49-F238E27FC236}">
                <a16:creationId xmlns:a16="http://schemas.microsoft.com/office/drawing/2014/main" id="{1F692CE6-CA9B-4CE7-8347-547CA81A9B70}"/>
              </a:ext>
            </a:extLst>
          </p:cNvPr>
          <p:cNvSpPr>
            <a:spLocks noGrp="1"/>
          </p:cNvSpPr>
          <p:nvPr>
            <p:ph type="ftr" idx="11"/>
          </p:nvPr>
        </p:nvSpPr>
        <p:spPr/>
        <p:txBody>
          <a:bodyPr/>
          <a:lstStyle/>
          <a:p>
            <a:endParaRPr/>
          </a:p>
        </p:txBody>
      </p:sp>
      <p:sp>
        <p:nvSpPr>
          <p:cNvPr id="9" name="Foliennummernplatzhalter 8">
            <a:extLst>
              <a:ext uri="{FF2B5EF4-FFF2-40B4-BE49-F238E27FC236}">
                <a16:creationId xmlns:a16="http://schemas.microsoft.com/office/drawing/2014/main" id="{4BB6C25B-68E4-448A-8218-7C86E79AC963}"/>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06C666-9D33-4CA8-8561-A741904C2D20}"/>
              </a:ext>
            </a:extLst>
          </p:cNvPr>
          <p:cNvSpPr>
            <a:spLocks noGrp="1"/>
          </p:cNvSpPr>
          <p:nvPr>
            <p:ph type="title"/>
          </p:nvPr>
        </p:nvSpPr>
        <p:spPr/>
        <p:txBody>
          <a:bodyPr/>
          <a:lstStyle/>
          <a:p>
            <a:r>
              <a:t>Titelmasterformat durch Klicken bearbeiten</a:t>
            </a:r>
          </a:p>
        </p:txBody>
      </p:sp>
      <p:sp>
        <p:nvSpPr>
          <p:cNvPr id="3" name="Datumsplatzhalter 2">
            <a:extLst>
              <a:ext uri="{FF2B5EF4-FFF2-40B4-BE49-F238E27FC236}">
                <a16:creationId xmlns:a16="http://schemas.microsoft.com/office/drawing/2014/main" id="{7CB6BA5D-D908-41DF-846A-1E78FAE630FF}"/>
              </a:ext>
            </a:extLst>
          </p:cNvPr>
          <p:cNvSpPr>
            <a:spLocks noGrp="1"/>
          </p:cNvSpPr>
          <p:nvPr>
            <p:ph type="dt" idx="10"/>
          </p:nvPr>
        </p:nvSpPr>
        <p:spPr/>
        <p:txBody>
          <a:bodyPr/>
          <a:lstStyle/>
          <a:p>
            <a:fld id="{727B1AE3-8886-4348-8A4E-818CB4B39E1C}" type="datetimeFigureOut">
              <a:t>06.10.2026</a:t>
            </a:fld>
            <a:endParaRPr/>
          </a:p>
        </p:txBody>
      </p:sp>
      <p:sp>
        <p:nvSpPr>
          <p:cNvPr id="4" name="Fußzeilenplatzhalter 3">
            <a:extLst>
              <a:ext uri="{FF2B5EF4-FFF2-40B4-BE49-F238E27FC236}">
                <a16:creationId xmlns:a16="http://schemas.microsoft.com/office/drawing/2014/main" id="{C4372C95-9B1C-4956-A23F-462B40EBF658}"/>
              </a:ext>
            </a:extLst>
          </p:cNvPr>
          <p:cNvSpPr>
            <a:spLocks noGrp="1"/>
          </p:cNvSpPr>
          <p:nvPr>
            <p:ph type="ftr" idx="11"/>
          </p:nvPr>
        </p:nvSpPr>
        <p:spPr/>
        <p:txBody>
          <a:bodyPr/>
          <a:lstStyle/>
          <a:p>
            <a:endParaRPr/>
          </a:p>
        </p:txBody>
      </p:sp>
      <p:sp>
        <p:nvSpPr>
          <p:cNvPr id="5" name="Foliennummernplatzhalter 4">
            <a:extLst>
              <a:ext uri="{FF2B5EF4-FFF2-40B4-BE49-F238E27FC236}">
                <a16:creationId xmlns:a16="http://schemas.microsoft.com/office/drawing/2014/main" id="{76B37EFB-AB28-4AA5-890A-384CC1A1C470}"/>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F1B1F67-48C9-422F-9A68-85391989B010}"/>
              </a:ext>
            </a:extLst>
          </p:cNvPr>
          <p:cNvSpPr>
            <a:spLocks noGrp="1"/>
          </p:cNvSpPr>
          <p:nvPr>
            <p:ph type="dt" idx="10"/>
          </p:nvPr>
        </p:nvSpPr>
        <p:spPr/>
        <p:txBody>
          <a:bodyPr/>
          <a:lstStyle/>
          <a:p>
            <a:fld id="{727B1AE3-8886-4348-8A4E-818CB4B39E1C}" type="datetimeFigureOut">
              <a:t>06.10.2026</a:t>
            </a:fld>
            <a:endParaRPr/>
          </a:p>
        </p:txBody>
      </p:sp>
      <p:sp>
        <p:nvSpPr>
          <p:cNvPr id="3" name="Fußzeilenplatzhalter 2">
            <a:extLst>
              <a:ext uri="{FF2B5EF4-FFF2-40B4-BE49-F238E27FC236}">
                <a16:creationId xmlns:a16="http://schemas.microsoft.com/office/drawing/2014/main" id="{AE136416-6BE6-4569-A090-3CD66FF3DB2C}"/>
              </a:ext>
            </a:extLst>
          </p:cNvPr>
          <p:cNvSpPr>
            <a:spLocks noGrp="1"/>
          </p:cNvSpPr>
          <p:nvPr>
            <p:ph type="ftr" idx="11"/>
          </p:nvPr>
        </p:nvSpPr>
        <p:spPr/>
        <p:txBody>
          <a:bodyPr/>
          <a:lstStyle/>
          <a:p>
            <a:endParaRPr/>
          </a:p>
        </p:txBody>
      </p:sp>
      <p:sp>
        <p:nvSpPr>
          <p:cNvPr id="4" name="Foliennummernplatzhalter 3">
            <a:extLst>
              <a:ext uri="{FF2B5EF4-FFF2-40B4-BE49-F238E27FC236}">
                <a16:creationId xmlns:a16="http://schemas.microsoft.com/office/drawing/2014/main" id="{05CF735A-8B0E-497D-A12F-E26C4E6A5CC4}"/>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704973-942B-45C9-AD5C-2827F54CDDCF}"/>
              </a:ext>
            </a:extLst>
          </p:cNvPr>
          <p:cNvSpPr>
            <a:spLocks noGrp="1"/>
          </p:cNvSpPr>
          <p:nvPr>
            <p:ph type="title"/>
          </p:nvPr>
        </p:nvSpPr>
        <p:spPr>
          <a:xfrm>
            <a:off x="839788" y="457200"/>
            <a:ext cx="3932237" cy="1600200"/>
          </a:xfrm>
        </p:spPr>
        <p:txBody>
          <a:bodyPr anchor="b"/>
          <a:lstStyle>
            <a:lvl1pPr>
              <a:buNone/>
              <a:defRPr sz="3200"/>
            </a:lvl1pPr>
          </a:lstStyle>
          <a:p>
            <a:r>
              <a:t>Titelmasterformat durch Klicken bearbeiten</a:t>
            </a:r>
          </a:p>
        </p:txBody>
      </p:sp>
      <p:sp>
        <p:nvSpPr>
          <p:cNvPr id="3" name="Inhaltsplatzhalter 2">
            <a:extLst>
              <a:ext uri="{FF2B5EF4-FFF2-40B4-BE49-F238E27FC236}">
                <a16:creationId xmlns:a16="http://schemas.microsoft.com/office/drawing/2014/main" id="{43748DE0-6D1A-4142-8C20-B509930AD849}"/>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Textplatzhalter 3">
            <a:extLst>
              <a:ext uri="{FF2B5EF4-FFF2-40B4-BE49-F238E27FC236}">
                <a16:creationId xmlns:a16="http://schemas.microsoft.com/office/drawing/2014/main" id="{69A7A42C-CC85-4916-A8BF-BA130BC8445B}"/>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Textmasterformat bearbeiten</a:t>
            </a:r>
          </a:p>
        </p:txBody>
      </p:sp>
      <p:sp>
        <p:nvSpPr>
          <p:cNvPr id="5" name="Datumsplatzhalter 4">
            <a:extLst>
              <a:ext uri="{FF2B5EF4-FFF2-40B4-BE49-F238E27FC236}">
                <a16:creationId xmlns:a16="http://schemas.microsoft.com/office/drawing/2014/main" id="{6A4ED830-6978-4AAF-8E9C-AE01A2E2DC97}"/>
              </a:ext>
            </a:extLst>
          </p:cNvPr>
          <p:cNvSpPr>
            <a:spLocks noGrp="1"/>
          </p:cNvSpPr>
          <p:nvPr>
            <p:ph type="dt" idx="10"/>
          </p:nvPr>
        </p:nvSpPr>
        <p:spPr/>
        <p:txBody>
          <a:bodyPr/>
          <a:lstStyle/>
          <a:p>
            <a:fld id="{727B1AE3-8886-4348-8A4E-818CB4B39E1C}" type="datetimeFigureOut">
              <a:t>06.10.2026</a:t>
            </a:fld>
            <a:endParaRPr/>
          </a:p>
        </p:txBody>
      </p:sp>
      <p:sp>
        <p:nvSpPr>
          <p:cNvPr id="6" name="Fußzeilenplatzhalter 5">
            <a:extLst>
              <a:ext uri="{FF2B5EF4-FFF2-40B4-BE49-F238E27FC236}">
                <a16:creationId xmlns:a16="http://schemas.microsoft.com/office/drawing/2014/main" id="{32B2067E-578D-43C7-B688-9D7C9A4CCFA4}"/>
              </a:ext>
            </a:extLst>
          </p:cNvPr>
          <p:cNvSpPr>
            <a:spLocks noGrp="1"/>
          </p:cNvSpPr>
          <p:nvPr>
            <p:ph type="ftr" idx="11"/>
          </p:nvPr>
        </p:nvSpPr>
        <p:spPr/>
        <p:txBody>
          <a:bodyPr/>
          <a:lstStyle/>
          <a:p>
            <a:endParaRPr/>
          </a:p>
        </p:txBody>
      </p:sp>
      <p:sp>
        <p:nvSpPr>
          <p:cNvPr id="7" name="Foliennummernplatzhalter 6">
            <a:extLst>
              <a:ext uri="{FF2B5EF4-FFF2-40B4-BE49-F238E27FC236}">
                <a16:creationId xmlns:a16="http://schemas.microsoft.com/office/drawing/2014/main" id="{333718EF-E554-427C-994C-BE08BE0A4541}"/>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B8305-BF82-44FC-A2BB-4639DC746BBE}"/>
              </a:ext>
            </a:extLst>
          </p:cNvPr>
          <p:cNvSpPr>
            <a:spLocks noGrp="1"/>
          </p:cNvSpPr>
          <p:nvPr>
            <p:ph type="title"/>
          </p:nvPr>
        </p:nvSpPr>
        <p:spPr>
          <a:xfrm>
            <a:off x="839788" y="457200"/>
            <a:ext cx="3932237" cy="1600200"/>
          </a:xfrm>
        </p:spPr>
        <p:txBody>
          <a:bodyPr anchor="b"/>
          <a:lstStyle>
            <a:lvl1pPr>
              <a:buNone/>
              <a:defRPr sz="3200"/>
            </a:lvl1pPr>
          </a:lstStyle>
          <a:p>
            <a:r>
              <a:t>Titelmasterformat durch Klicken bearbeiten</a:t>
            </a:r>
          </a:p>
        </p:txBody>
      </p:sp>
      <p:sp>
        <p:nvSpPr>
          <p:cNvPr id="3" name="Bildplatzhalter 2">
            <a:extLst>
              <a:ext uri="{FF2B5EF4-FFF2-40B4-BE49-F238E27FC236}">
                <a16:creationId xmlns:a16="http://schemas.microsoft.com/office/drawing/2014/main" id="{367250B3-6144-4234-9C2F-9DB6150147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platzhalter 3">
            <a:extLst>
              <a:ext uri="{FF2B5EF4-FFF2-40B4-BE49-F238E27FC236}">
                <a16:creationId xmlns:a16="http://schemas.microsoft.com/office/drawing/2014/main" id="{FDFC85ED-EB8B-44D7-8EBC-E7FB64772D91}"/>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Textmasterformat bearbeiten</a:t>
            </a:r>
          </a:p>
        </p:txBody>
      </p:sp>
      <p:sp>
        <p:nvSpPr>
          <p:cNvPr id="5" name="Datumsplatzhalter 4">
            <a:extLst>
              <a:ext uri="{FF2B5EF4-FFF2-40B4-BE49-F238E27FC236}">
                <a16:creationId xmlns:a16="http://schemas.microsoft.com/office/drawing/2014/main" id="{CDF99920-AED3-4004-B6E3-3778C84CEE8A}"/>
              </a:ext>
            </a:extLst>
          </p:cNvPr>
          <p:cNvSpPr>
            <a:spLocks noGrp="1"/>
          </p:cNvSpPr>
          <p:nvPr>
            <p:ph type="dt" idx="10"/>
          </p:nvPr>
        </p:nvSpPr>
        <p:spPr/>
        <p:txBody>
          <a:bodyPr/>
          <a:lstStyle/>
          <a:p>
            <a:fld id="{727B1AE3-8886-4348-8A4E-818CB4B39E1C}" type="datetimeFigureOut">
              <a:t>06.10.2026</a:t>
            </a:fld>
            <a:endParaRPr/>
          </a:p>
        </p:txBody>
      </p:sp>
      <p:sp>
        <p:nvSpPr>
          <p:cNvPr id="6" name="Fußzeilenplatzhalter 5">
            <a:extLst>
              <a:ext uri="{FF2B5EF4-FFF2-40B4-BE49-F238E27FC236}">
                <a16:creationId xmlns:a16="http://schemas.microsoft.com/office/drawing/2014/main" id="{66A21545-2EEE-4841-B635-B51B82E4018F}"/>
              </a:ext>
            </a:extLst>
          </p:cNvPr>
          <p:cNvSpPr>
            <a:spLocks noGrp="1"/>
          </p:cNvSpPr>
          <p:nvPr>
            <p:ph type="ftr" idx="11"/>
          </p:nvPr>
        </p:nvSpPr>
        <p:spPr/>
        <p:txBody>
          <a:bodyPr/>
          <a:lstStyle/>
          <a:p>
            <a:endParaRPr/>
          </a:p>
        </p:txBody>
      </p:sp>
      <p:sp>
        <p:nvSpPr>
          <p:cNvPr id="7" name="Foliennummernplatzhalter 6">
            <a:extLst>
              <a:ext uri="{FF2B5EF4-FFF2-40B4-BE49-F238E27FC236}">
                <a16:creationId xmlns:a16="http://schemas.microsoft.com/office/drawing/2014/main" id="{BE300569-E195-4648-A576-14948D97E9B0}"/>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4D857E-5316-4FF3-84D6-23952C99D8E7}"/>
              </a:ext>
            </a:extLst>
          </p:cNvPr>
          <p:cNvSpPr>
            <a:spLocks noGrp="1"/>
          </p:cNvSpPr>
          <p:nvPr>
            <p:ph type="title"/>
          </p:nvPr>
        </p:nvSpPr>
        <p:spPr/>
        <p:txBody>
          <a:bodyPr/>
          <a:lstStyle/>
          <a:p>
            <a:r>
              <a:t>Titelmasterformat durch Klicken bearbeiten</a:t>
            </a:r>
          </a:p>
        </p:txBody>
      </p:sp>
      <p:sp>
        <p:nvSpPr>
          <p:cNvPr id="3" name="Vertikaler Textplatzhalter 2">
            <a:extLst>
              <a:ext uri="{FF2B5EF4-FFF2-40B4-BE49-F238E27FC236}">
                <a16:creationId xmlns:a16="http://schemas.microsoft.com/office/drawing/2014/main" id="{C6CB603C-89EE-4F8F-9186-4C29BC4816C3}"/>
              </a:ext>
            </a:extLst>
          </p:cNvPr>
          <p:cNvSpPr>
            <a:spLocks noGrp="1"/>
          </p:cNvSpPr>
          <p:nvPr>
            <p:ph type="body" idx="1"/>
          </p:nvPr>
        </p:nvSpPr>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0F325FDA-08C6-4287-BC14-1DAFA12D9D91}"/>
              </a:ext>
            </a:extLst>
          </p:cNvPr>
          <p:cNvSpPr>
            <a:spLocks noGrp="1"/>
          </p:cNvSpPr>
          <p:nvPr>
            <p:ph type="dt" idx="10"/>
          </p:nvPr>
        </p:nvSpPr>
        <p:spPr/>
        <p:txBody>
          <a:bodyPr/>
          <a:lstStyle/>
          <a:p>
            <a:fld id="{727B1AE3-8886-4348-8A4E-818CB4B39E1C}" type="datetimeFigureOut">
              <a:t>06.10.2026</a:t>
            </a:fld>
            <a:endParaRPr/>
          </a:p>
        </p:txBody>
      </p:sp>
      <p:sp>
        <p:nvSpPr>
          <p:cNvPr id="5" name="Fußzeilenplatzhalter 4">
            <a:extLst>
              <a:ext uri="{FF2B5EF4-FFF2-40B4-BE49-F238E27FC236}">
                <a16:creationId xmlns:a16="http://schemas.microsoft.com/office/drawing/2014/main" id="{A22CF6FD-9B13-42FF-9F99-271B702A9614}"/>
              </a:ext>
            </a:extLst>
          </p:cNvPr>
          <p:cNvSpPr>
            <a:spLocks noGrp="1"/>
          </p:cNvSpPr>
          <p:nvPr>
            <p:ph type="ftr" idx="11"/>
          </p:nvPr>
        </p:nvSpPr>
        <p:spPr/>
        <p:txBody>
          <a:bodyPr/>
          <a:lstStyle/>
          <a:p>
            <a:endParaRPr/>
          </a:p>
        </p:txBody>
      </p:sp>
      <p:sp>
        <p:nvSpPr>
          <p:cNvPr id="6" name="Foliennummernplatzhalter 5">
            <a:extLst>
              <a:ext uri="{FF2B5EF4-FFF2-40B4-BE49-F238E27FC236}">
                <a16:creationId xmlns:a16="http://schemas.microsoft.com/office/drawing/2014/main" id="{C8F60415-807A-417A-B3DA-6B4713FDEFDF}"/>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54E495E-C579-47E3-A1D6-8A5733B59529}"/>
              </a:ext>
            </a:extLst>
          </p:cNvPr>
          <p:cNvSpPr>
            <a:spLocks noGrp="1"/>
          </p:cNvSpPr>
          <p:nvPr>
            <p:ph type="title"/>
          </p:nvPr>
        </p:nvSpPr>
        <p:spPr>
          <a:xfrm>
            <a:off x="8724900" y="365125"/>
            <a:ext cx="2628900" cy="5811838"/>
          </a:xfrm>
        </p:spPr>
        <p:txBody>
          <a:bodyPr vert="eaVert"/>
          <a:lstStyle/>
          <a:p>
            <a:r>
              <a:t>Titelmasterformat durch Klicken bearbeiten</a:t>
            </a:r>
          </a:p>
        </p:txBody>
      </p:sp>
      <p:sp>
        <p:nvSpPr>
          <p:cNvPr id="3" name="Vertikaler Textplatzhalter 2">
            <a:extLst>
              <a:ext uri="{FF2B5EF4-FFF2-40B4-BE49-F238E27FC236}">
                <a16:creationId xmlns:a16="http://schemas.microsoft.com/office/drawing/2014/main" id="{89A1395E-A206-473C-AF3C-22F01015E7A2}"/>
              </a:ext>
            </a:extLst>
          </p:cNvPr>
          <p:cNvSpPr>
            <a:spLocks noGrp="1"/>
          </p:cNvSpPr>
          <p:nvPr>
            <p:ph type="body" idx="1"/>
          </p:nvPr>
        </p:nvSpPr>
        <p:spPr>
          <a:xfrm>
            <a:off x="838200" y="365125"/>
            <a:ext cx="7734300" cy="5811838"/>
          </a:xfrm>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8EF4F2DC-08C0-437E-8E10-B918746FE5E6}"/>
              </a:ext>
            </a:extLst>
          </p:cNvPr>
          <p:cNvSpPr>
            <a:spLocks noGrp="1"/>
          </p:cNvSpPr>
          <p:nvPr>
            <p:ph type="dt" idx="10"/>
          </p:nvPr>
        </p:nvSpPr>
        <p:spPr/>
        <p:txBody>
          <a:bodyPr/>
          <a:lstStyle/>
          <a:p>
            <a:fld id="{727B1AE3-8886-4348-8A4E-818CB4B39E1C}" type="datetimeFigureOut">
              <a:t>06.10.2026</a:t>
            </a:fld>
            <a:endParaRPr/>
          </a:p>
        </p:txBody>
      </p:sp>
      <p:sp>
        <p:nvSpPr>
          <p:cNvPr id="5" name="Fußzeilenplatzhalter 4">
            <a:extLst>
              <a:ext uri="{FF2B5EF4-FFF2-40B4-BE49-F238E27FC236}">
                <a16:creationId xmlns:a16="http://schemas.microsoft.com/office/drawing/2014/main" id="{357910B4-DC1A-4979-B360-B3773E0508C1}"/>
              </a:ext>
            </a:extLst>
          </p:cNvPr>
          <p:cNvSpPr>
            <a:spLocks noGrp="1"/>
          </p:cNvSpPr>
          <p:nvPr>
            <p:ph type="ftr" idx="11"/>
          </p:nvPr>
        </p:nvSpPr>
        <p:spPr/>
        <p:txBody>
          <a:bodyPr/>
          <a:lstStyle/>
          <a:p>
            <a:endParaRPr/>
          </a:p>
        </p:txBody>
      </p:sp>
      <p:sp>
        <p:nvSpPr>
          <p:cNvPr id="6" name="Foliennummernplatzhalter 5">
            <a:extLst>
              <a:ext uri="{FF2B5EF4-FFF2-40B4-BE49-F238E27FC236}">
                <a16:creationId xmlns:a16="http://schemas.microsoft.com/office/drawing/2014/main" id="{4C60DC75-8D32-459E-A7FE-5C972955F795}"/>
              </a:ext>
            </a:extLst>
          </p:cNvPr>
          <p:cNvSpPr>
            <a:spLocks noGrp="1"/>
          </p:cNvSpPr>
          <p:nvPr>
            <p:ph type="sldNum" idx="12"/>
          </p:nvPr>
        </p:nvSpPr>
        <p:spPr/>
        <p:txBody>
          <a:bodyPr/>
          <a:lstStyle/>
          <a:p>
            <a:fld id="{4EA7FCA0-3751-407F-B40E-0F286A8F4106}" type="slidenum">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AD2B9B3-AD52-49CC-A110-66F06D7C969B}"/>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Titelmasterformat durch Klicken bearbeiten</a:t>
            </a:r>
          </a:p>
        </p:txBody>
      </p:sp>
      <p:sp>
        <p:nvSpPr>
          <p:cNvPr id="3" name="Textplatzhalter 2">
            <a:extLst>
              <a:ext uri="{FF2B5EF4-FFF2-40B4-BE49-F238E27FC236}">
                <a16:creationId xmlns:a16="http://schemas.microsoft.com/office/drawing/2014/main" id="{673010D8-DE6A-4F64-BD4F-49C9F6CC465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6EAF2866-DF51-4A5F-9FAD-18654D075DF7}"/>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727B1AE3-8886-4348-8A4E-818CB4B39E1C}" type="datetimeFigureOut">
              <a:t>06.10.2026</a:t>
            </a:fld>
            <a:endParaRPr/>
          </a:p>
        </p:txBody>
      </p:sp>
      <p:sp>
        <p:nvSpPr>
          <p:cNvPr id="5" name="Fußzeilenplatzhalter 4">
            <a:extLst>
              <a:ext uri="{FF2B5EF4-FFF2-40B4-BE49-F238E27FC236}">
                <a16:creationId xmlns:a16="http://schemas.microsoft.com/office/drawing/2014/main" id="{EBC9645F-F5B2-4702-B740-BCA8D1C3CC73}"/>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Foliennummernplatzhalter 5">
            <a:extLst>
              <a:ext uri="{FF2B5EF4-FFF2-40B4-BE49-F238E27FC236}">
                <a16:creationId xmlns:a16="http://schemas.microsoft.com/office/drawing/2014/main" id="{27C3F0CB-D7CC-4CFC-8EF3-AD023BC6BA3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4EA7FCA0-3751-407F-B40E-0F286A8F4106}" type="slidenum">
              <a:t>‹Nr.›</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G Grafik">
            <a:extLst>
              <a:ext uri="{FF2B5EF4-FFF2-40B4-BE49-F238E27FC236}">
                <a16:creationId xmlns:a16="http://schemas.microsoft.com/office/drawing/2014/main" id="{E33BD993-8E35-1E8E-C3CE-E328D1869289}"/>
              </a:ext>
            </a:extLst>
          </p:cNvPr>
          <p:cNvSpPr>
            <a:spLocks noGrp="1"/>
          </p:cNvSpPr>
          <p:nvPr/>
        </p:nvSpPr>
        <p:spPr>
          <a:xfrm>
            <a:off x="1782849"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a:noFill/>
            <a:prstDash val="solid"/>
          </a:ln>
        </p:spPr>
        <p:txBody>
          <a:bodyPr wrap="square" anchor="ctr">
            <a:noAutofit/>
          </a:bodyPr>
          <a:lstStyle/>
          <a:p>
            <a:endParaRPr/>
          </a:p>
        </p:txBody>
      </p:sp>
      <p:pic>
        <p:nvPicPr>
          <p:cNvPr id="36" name="Herzlich Willkomme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3731" y="4217561"/>
            <a:ext cx="4521218" cy="1205657"/>
          </a:xfrm>
          <a:prstGeom prst="rect">
            <a:avLst/>
          </a:prstGeom>
        </p:spPr>
      </p:pic>
      <p:sp>
        <p:nvSpPr>
          <p:cNvPr id="27" name="Zur Kick-Off Veranstaltung">
            <a:extLst>
              <a:ext uri="{FF2B5EF4-FFF2-40B4-BE49-F238E27FC236}">
                <a16:creationId xmlns:a16="http://schemas.microsoft.com/office/drawing/2014/main" id="{EE11DE73-E868-06ED-35C5-F32725659A0B}"/>
              </a:ext>
            </a:extLst>
          </p:cNvPr>
          <p:cNvSpPr>
            <a:spLocks noGrp="1"/>
          </p:cNvSpPr>
          <p:nvPr/>
        </p:nvSpPr>
        <p:spPr>
          <a:xfrm>
            <a:off x="633731" y="5703708"/>
            <a:ext cx="6396743" cy="432891"/>
          </a:xfrm>
          <a:prstGeom prst="rect">
            <a:avLst/>
          </a:prstGeom>
        </p:spPr>
        <p:txBody>
          <a:bodyPr vert="horz" lIns="91440" tIns="45720" rIns="91440" bIns="45720" anchor="t">
            <a:no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defRPr sz="2400" b="1">
                <a:solidFill>
                  <a:srgbClr val="E9496E"/>
                </a:solidFill>
                <a:latin typeface="Calibri"/>
                <a:ea typeface="Calibri"/>
                <a:cs typeface="Calibri"/>
              </a:defRPr>
            </a:pPr>
            <a:r>
              <a:rPr sz="2400" b="1" cap="all">
                <a:solidFill>
                  <a:srgbClr val="E9496E"/>
                </a:solidFill>
                <a:latin typeface="Calibri"/>
                <a:ea typeface="Calibri"/>
                <a:cs typeface="Calibri"/>
              </a:rPr>
              <a:t>ZUM KI-AUFTAKT</a:t>
            </a:r>
            <a:endParaRPr sz="2400" b="1" cap="all">
              <a:solidFill>
                <a:srgbClr val="E9496E"/>
              </a:solidFill>
            </a:endParaRPr>
          </a:p>
        </p:txBody>
      </p:sp>
      <p:pic>
        <p:nvPicPr>
          <p:cNvPr id="38" name="Icon"/>
          <p:cNvPicPr>
            <a:picLocks noGrp="1" noChangeAspect="1"/>
          </p:cNvPicPr>
          <p:nvPr>
            <p:ph idx="1"/>
          </p:nvPr>
        </p:nvPicPr>
        <p:blipFill>
          <a:blip>
            <a:extLst>
              <a:ext uri="{96DAC541-7B7A-43D3-8B79-37D633B846F1}">
                <asvg:svgBlip xmlns:asvg="http://schemas.microsoft.com/office/drawing/2016/SVG/main" r:embed="rId4"/>
              </a:ext>
            </a:extLst>
          </a:blip>
          <a:stretch>
            <a:fillRect/>
          </a:stretch>
        </p:blipFill>
        <p:spPr>
          <a:xfrm>
            <a:off x="6399849" y="793284"/>
            <a:ext cx="4896047" cy="4853659"/>
          </a:xfrm>
          <a:prstGeom prst="rect">
            <a:avLst/>
          </a:prstGeom>
        </p:spPr>
      </p:pic>
      <p:pic>
        <p:nvPicPr>
          <p:cNvPr id="39" name="Logo"/>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5285" y="59684"/>
            <a:ext cx="2600340" cy="1627257"/>
          </a:xfrm>
          <a:prstGeom prst="rect">
            <a:avLst/>
          </a:prstGeom>
        </p:spPr>
      </p:pic>
      <p:sp>
        <p:nvSpPr>
          <p:cNvPr id="31" name="Künstliche Intelligenz im Unternehmensalltag">
            <a:extLst>
              <a:ext uri="{FF2B5EF4-FFF2-40B4-BE49-F238E27FC236}">
                <a16:creationId xmlns:a16="http://schemas.microsoft.com/office/drawing/2014/main" id="{8F8414AE-0AC6-4515-9E1A-87FA14BEFE7C}"/>
              </a:ext>
            </a:extLst>
          </p:cNvPr>
          <p:cNvSpPr>
            <a:spLocks noGrp="1"/>
          </p:cNvSpPr>
          <p:nvPr/>
        </p:nvSpPr>
        <p:spPr>
          <a:xfrm>
            <a:off x="685800" y="6257925"/>
            <a:ext cx="10001250" cy="457200"/>
          </a:xfrm>
          <a:prstGeom prst="rect">
            <a:avLst/>
          </a:prstGeom>
          <a:noFill/>
          <a:ln w="0">
            <a:noFill/>
          </a:ln>
        </p:spPr>
        <p:txBody>
          <a:bodyPr anchor="t">
            <a:noAutofit/>
          </a:bodyPr>
          <a:lstStyle/>
          <a:p>
            <a:pPr algn="l">
              <a:buNone/>
              <a:defRPr sz="2100" b="0">
                <a:solidFill>
                  <a:srgbClr val="000000"/>
                </a:solidFill>
                <a:latin typeface="Calibri"/>
                <a:ea typeface="Calibri"/>
                <a:cs typeface="Calibri"/>
              </a:defRPr>
            </a:pPr>
            <a:r>
              <a:rPr sz="2100" b="0">
                <a:solidFill>
                  <a:srgbClr val="000000"/>
                </a:solidFill>
                <a:latin typeface="Calibri"/>
                <a:ea typeface="Calibri"/>
                <a:cs typeface="Calibri"/>
              </a:rPr>
              <a:t>Künstliche Intelligenz im Unternehmensalltag</a:t>
            </a:r>
          </a:p>
        </p:txBody>
      </p:sp>
    </p:spTree>
    <p:extLst>
      <p:ext uri="{BB962C8B-B14F-4D97-AF65-F5344CB8AC3E}">
        <p14:creationId xmlns:p14="http://schemas.microsoft.com/office/powerpoint/2010/main" val="1001196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feld 18">
            <a:extLst>
              <a:ext uri="{FF2B5EF4-FFF2-40B4-BE49-F238E27FC236}">
                <a16:creationId xmlns:a16="http://schemas.microsoft.com/office/drawing/2014/main" id="{364395E7-25C7-413A-B710-8889BECF2792}"/>
              </a:ext>
            </a:extLst>
          </p:cNvPr>
          <p:cNvSpPr txBox="1"/>
          <p:nvPr/>
        </p:nvSpPr>
        <p:spPr>
          <a:xfrm>
            <a:off x="1344707" y="496608"/>
            <a:ext cx="9484658" cy="883539"/>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b="1" dirty="0">
                <a:latin typeface="+mj-lt"/>
                <a:ea typeface="+mj-ea"/>
                <a:cs typeface="+mj-cs"/>
              </a:rPr>
              <a:t>Ein </a:t>
            </a:r>
            <a:r>
              <a:rPr lang="en-US" sz="4400" b="1" dirty="0" err="1">
                <a:latin typeface="+mj-lt"/>
                <a:ea typeface="+mj-ea"/>
                <a:cs typeface="+mj-cs"/>
              </a:rPr>
              <a:t>gehaltvolles</a:t>
            </a:r>
            <a:r>
              <a:rPr lang="en-US" sz="4400" b="1" dirty="0">
                <a:latin typeface="+mj-lt"/>
                <a:ea typeface="+mj-ea"/>
                <a:cs typeface="+mj-cs"/>
              </a:rPr>
              <a:t> </a:t>
            </a:r>
            <a:r>
              <a:rPr lang="en-US" sz="4400" b="1" dirty="0" err="1">
                <a:latin typeface="+mj-lt"/>
                <a:ea typeface="+mj-ea"/>
                <a:cs typeface="+mj-cs"/>
              </a:rPr>
              <a:t>Netzwerk</a:t>
            </a:r>
            <a:r>
              <a:rPr lang="en-US" sz="4400" b="1" dirty="0">
                <a:latin typeface="+mj-lt"/>
                <a:ea typeface="+mj-ea"/>
                <a:cs typeface="+mj-cs"/>
              </a:rPr>
              <a:t> für die Region</a:t>
            </a:r>
          </a:p>
        </p:txBody>
      </p:sp>
      <p:sp>
        <p:nvSpPr>
          <p:cNvPr id="43" name="Grafik 16">
            <a:extLst>
              <a:ext uri="{FF2B5EF4-FFF2-40B4-BE49-F238E27FC236}">
                <a16:creationId xmlns:a16="http://schemas.microsoft.com/office/drawing/2014/main" id="{42E7B0F0-8E29-A8BA-6762-532EDD2BE3E3}"/>
              </a:ext>
            </a:extLst>
          </p:cNvPr>
          <p:cNvSpPr/>
          <p:nvPr/>
        </p:nvSpPr>
        <p:spPr>
          <a:xfrm>
            <a:off x="1369340" y="2199989"/>
            <a:ext cx="1096069" cy="1276849"/>
          </a:xfrm>
          <a:custGeom>
            <a:avLst/>
            <a:gdLst>
              <a:gd name="connsiteX0" fmla="*/ 596432 w 1096069"/>
              <a:gd name="connsiteY0" fmla="*/ 1276849 h 1276849"/>
              <a:gd name="connsiteX1" fmla="*/ 0 w 1096069"/>
              <a:gd name="connsiteY1" fmla="*/ 1276849 h 1276849"/>
              <a:gd name="connsiteX2" fmla="*/ 499637 w 1096069"/>
              <a:gd name="connsiteY2" fmla="*/ 638425 h 1276849"/>
              <a:gd name="connsiteX3" fmla="*/ 0 w 1096069"/>
              <a:gd name="connsiteY3" fmla="*/ 0 h 1276849"/>
              <a:gd name="connsiteX4" fmla="*/ 596432 w 1096069"/>
              <a:gd name="connsiteY4" fmla="*/ 0 h 1276849"/>
              <a:gd name="connsiteX5" fmla="*/ 1096069 w 1096069"/>
              <a:gd name="connsiteY5" fmla="*/ 638425 h 1276849"/>
              <a:gd name="connsiteX6" fmla="*/ 596432 w 1096069"/>
              <a:gd name="connsiteY6" fmla="*/ 1276849 h 1276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069" h="1276849">
                <a:moveTo>
                  <a:pt x="596432" y="1276849"/>
                </a:moveTo>
                <a:lnTo>
                  <a:pt x="0" y="1276849"/>
                </a:lnTo>
                <a:lnTo>
                  <a:pt x="499637" y="638425"/>
                </a:lnTo>
                <a:lnTo>
                  <a:pt x="0" y="0"/>
                </a:lnTo>
                <a:lnTo>
                  <a:pt x="596432" y="0"/>
                </a:lnTo>
                <a:lnTo>
                  <a:pt x="1096069" y="638425"/>
                </a:lnTo>
                <a:lnTo>
                  <a:pt x="596432" y="1276849"/>
                </a:lnTo>
                <a:close/>
              </a:path>
            </a:pathLst>
          </a:custGeom>
          <a:solidFill>
            <a:srgbClr val="E9496E"/>
          </a:solidFill>
          <a:ln w="35433" cap="flat">
            <a:noFill/>
            <a:prstDash val="solid"/>
            <a:miter/>
          </a:ln>
        </p:spPr>
        <p:txBody>
          <a:bodyPr rtlCol="0" anchor="ctr"/>
          <a:lstStyle/>
          <a:p>
            <a:endParaRPr lang="de-DE"/>
          </a:p>
        </p:txBody>
      </p:sp>
      <p:sp>
        <p:nvSpPr>
          <p:cNvPr id="44" name="Grafik 21">
            <a:extLst>
              <a:ext uri="{FF2B5EF4-FFF2-40B4-BE49-F238E27FC236}">
                <a16:creationId xmlns:a16="http://schemas.microsoft.com/office/drawing/2014/main" id="{F1A71C7A-ACEB-6E81-4267-5B4824CF1894}"/>
              </a:ext>
            </a:extLst>
          </p:cNvPr>
          <p:cNvSpPr/>
          <p:nvPr/>
        </p:nvSpPr>
        <p:spPr>
          <a:xfrm>
            <a:off x="4148583" y="2199988"/>
            <a:ext cx="1096069" cy="1276850"/>
          </a:xfrm>
          <a:custGeom>
            <a:avLst/>
            <a:gdLst>
              <a:gd name="connsiteX0" fmla="*/ 596433 w 1096069"/>
              <a:gd name="connsiteY0" fmla="*/ 1276850 h 1276850"/>
              <a:gd name="connsiteX1" fmla="*/ 0 w 1096069"/>
              <a:gd name="connsiteY1" fmla="*/ 1276850 h 1276850"/>
              <a:gd name="connsiteX2" fmla="*/ 499637 w 1096069"/>
              <a:gd name="connsiteY2" fmla="*/ 638425 h 1276850"/>
              <a:gd name="connsiteX3" fmla="*/ 0 w 1096069"/>
              <a:gd name="connsiteY3" fmla="*/ 0 h 1276850"/>
              <a:gd name="connsiteX4" fmla="*/ 596433 w 1096069"/>
              <a:gd name="connsiteY4" fmla="*/ 0 h 1276850"/>
              <a:gd name="connsiteX5" fmla="*/ 1096070 w 1096069"/>
              <a:gd name="connsiteY5" fmla="*/ 638425 h 1276850"/>
              <a:gd name="connsiteX6" fmla="*/ 596433 w 1096069"/>
              <a:gd name="connsiteY6" fmla="*/ 1276850 h 127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069" h="1276850">
                <a:moveTo>
                  <a:pt x="596433" y="1276850"/>
                </a:moveTo>
                <a:lnTo>
                  <a:pt x="0" y="1276850"/>
                </a:lnTo>
                <a:lnTo>
                  <a:pt x="499637" y="638425"/>
                </a:lnTo>
                <a:lnTo>
                  <a:pt x="0" y="0"/>
                </a:lnTo>
                <a:lnTo>
                  <a:pt x="596433" y="0"/>
                </a:lnTo>
                <a:lnTo>
                  <a:pt x="1096070" y="638425"/>
                </a:lnTo>
                <a:lnTo>
                  <a:pt x="596433" y="1276850"/>
                </a:lnTo>
                <a:close/>
              </a:path>
            </a:pathLst>
          </a:custGeom>
          <a:solidFill>
            <a:srgbClr val="6C66AC"/>
          </a:solidFill>
          <a:ln w="35433" cap="flat">
            <a:noFill/>
            <a:prstDash val="solid"/>
            <a:miter/>
          </a:ln>
        </p:spPr>
        <p:txBody>
          <a:bodyPr rtlCol="0" anchor="ctr"/>
          <a:lstStyle/>
          <a:p>
            <a:endParaRPr lang="de-DE"/>
          </a:p>
        </p:txBody>
      </p:sp>
      <p:sp>
        <p:nvSpPr>
          <p:cNvPr id="45" name="Grafik 19">
            <a:extLst>
              <a:ext uri="{FF2B5EF4-FFF2-40B4-BE49-F238E27FC236}">
                <a16:creationId xmlns:a16="http://schemas.microsoft.com/office/drawing/2014/main" id="{0C2A6D77-8EB8-8A61-64B3-A29418B9744A}"/>
              </a:ext>
            </a:extLst>
          </p:cNvPr>
          <p:cNvSpPr/>
          <p:nvPr/>
        </p:nvSpPr>
        <p:spPr>
          <a:xfrm>
            <a:off x="6953091" y="2199988"/>
            <a:ext cx="1096069" cy="1276849"/>
          </a:xfrm>
          <a:custGeom>
            <a:avLst/>
            <a:gdLst>
              <a:gd name="connsiteX0" fmla="*/ 596432 w 1096069"/>
              <a:gd name="connsiteY0" fmla="*/ 1276849 h 1276849"/>
              <a:gd name="connsiteX1" fmla="*/ 0 w 1096069"/>
              <a:gd name="connsiteY1" fmla="*/ 1276849 h 1276849"/>
              <a:gd name="connsiteX2" fmla="*/ 499637 w 1096069"/>
              <a:gd name="connsiteY2" fmla="*/ 638425 h 1276849"/>
              <a:gd name="connsiteX3" fmla="*/ 0 w 1096069"/>
              <a:gd name="connsiteY3" fmla="*/ 0 h 1276849"/>
              <a:gd name="connsiteX4" fmla="*/ 596432 w 1096069"/>
              <a:gd name="connsiteY4" fmla="*/ 0 h 1276849"/>
              <a:gd name="connsiteX5" fmla="*/ 1096069 w 1096069"/>
              <a:gd name="connsiteY5" fmla="*/ 638425 h 1276849"/>
              <a:gd name="connsiteX6" fmla="*/ 596432 w 1096069"/>
              <a:gd name="connsiteY6" fmla="*/ 1276849 h 1276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069" h="1276849">
                <a:moveTo>
                  <a:pt x="596432" y="1276849"/>
                </a:moveTo>
                <a:lnTo>
                  <a:pt x="0" y="1276849"/>
                </a:lnTo>
                <a:lnTo>
                  <a:pt x="499637" y="638425"/>
                </a:lnTo>
                <a:lnTo>
                  <a:pt x="0" y="0"/>
                </a:lnTo>
                <a:lnTo>
                  <a:pt x="596432" y="0"/>
                </a:lnTo>
                <a:lnTo>
                  <a:pt x="1096069" y="638425"/>
                </a:lnTo>
                <a:lnTo>
                  <a:pt x="596432" y="1276849"/>
                </a:lnTo>
                <a:close/>
              </a:path>
            </a:pathLst>
          </a:custGeom>
          <a:solidFill>
            <a:srgbClr val="00AB97"/>
          </a:solidFill>
          <a:ln w="35433" cap="flat">
            <a:noFill/>
            <a:prstDash val="solid"/>
            <a:miter/>
          </a:ln>
        </p:spPr>
        <p:txBody>
          <a:bodyPr rtlCol="0" anchor="ctr"/>
          <a:lstStyle/>
          <a:p>
            <a:endParaRPr lang="de-DE"/>
          </a:p>
        </p:txBody>
      </p:sp>
      <p:sp>
        <p:nvSpPr>
          <p:cNvPr id="42" name="Grafik 20">
            <a:extLst>
              <a:ext uri="{FF2B5EF4-FFF2-40B4-BE49-F238E27FC236}">
                <a16:creationId xmlns:a16="http://schemas.microsoft.com/office/drawing/2014/main" id="{6659F098-9B4B-9447-0027-E73CFE18E52A}"/>
              </a:ext>
            </a:extLst>
          </p:cNvPr>
          <p:cNvSpPr/>
          <p:nvPr/>
        </p:nvSpPr>
        <p:spPr>
          <a:xfrm>
            <a:off x="9726530" y="2199989"/>
            <a:ext cx="1096069" cy="1276849"/>
          </a:xfrm>
          <a:custGeom>
            <a:avLst/>
            <a:gdLst>
              <a:gd name="connsiteX0" fmla="*/ 596432 w 1096069"/>
              <a:gd name="connsiteY0" fmla="*/ 1276849 h 1276849"/>
              <a:gd name="connsiteX1" fmla="*/ 0 w 1096069"/>
              <a:gd name="connsiteY1" fmla="*/ 1276849 h 1276849"/>
              <a:gd name="connsiteX2" fmla="*/ 499637 w 1096069"/>
              <a:gd name="connsiteY2" fmla="*/ 638425 h 1276849"/>
              <a:gd name="connsiteX3" fmla="*/ 0 w 1096069"/>
              <a:gd name="connsiteY3" fmla="*/ 0 h 1276849"/>
              <a:gd name="connsiteX4" fmla="*/ 596432 w 1096069"/>
              <a:gd name="connsiteY4" fmla="*/ 0 h 1276849"/>
              <a:gd name="connsiteX5" fmla="*/ 1096069 w 1096069"/>
              <a:gd name="connsiteY5" fmla="*/ 638425 h 1276849"/>
              <a:gd name="connsiteX6" fmla="*/ 596432 w 1096069"/>
              <a:gd name="connsiteY6" fmla="*/ 1276849 h 1276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069" h="1276849">
                <a:moveTo>
                  <a:pt x="596432" y="1276849"/>
                </a:moveTo>
                <a:lnTo>
                  <a:pt x="0" y="1276849"/>
                </a:lnTo>
                <a:lnTo>
                  <a:pt x="499637" y="638425"/>
                </a:lnTo>
                <a:lnTo>
                  <a:pt x="0" y="0"/>
                </a:lnTo>
                <a:lnTo>
                  <a:pt x="596432" y="0"/>
                </a:lnTo>
                <a:lnTo>
                  <a:pt x="1096069" y="638425"/>
                </a:lnTo>
                <a:lnTo>
                  <a:pt x="596432" y="1276849"/>
                </a:lnTo>
                <a:close/>
              </a:path>
            </a:pathLst>
          </a:custGeom>
          <a:solidFill>
            <a:srgbClr val="F6CD00"/>
          </a:solidFill>
          <a:ln w="35433" cap="flat">
            <a:noFill/>
            <a:prstDash val="solid"/>
            <a:miter/>
          </a:ln>
        </p:spPr>
        <p:txBody>
          <a:bodyPr rtlCol="0" anchor="ctr"/>
          <a:lstStyle/>
          <a:p>
            <a:endParaRPr lang="de-DE"/>
          </a:p>
        </p:txBody>
      </p:sp>
      <p:sp>
        <p:nvSpPr>
          <p:cNvPr id="11" name="Textfeld 10">
            <a:extLst>
              <a:ext uri="{FF2B5EF4-FFF2-40B4-BE49-F238E27FC236}">
                <a16:creationId xmlns:a16="http://schemas.microsoft.com/office/drawing/2014/main" id="{A0871E9B-AA22-535A-D374-88091EFBC00F}"/>
              </a:ext>
            </a:extLst>
          </p:cNvPr>
          <p:cNvSpPr txBox="1"/>
          <p:nvPr/>
        </p:nvSpPr>
        <p:spPr>
          <a:xfrm>
            <a:off x="828073" y="4281394"/>
            <a:ext cx="2172302" cy="1790884"/>
          </a:xfrm>
          <a:prstGeom prst="rect">
            <a:avLst/>
          </a:prstGeom>
        </p:spPr>
        <p:txBody>
          <a:bodyPr vert="horz" lIns="91440" tIns="45720" rIns="91440" bIns="45720" rtlCol="0" anchor="t">
            <a:normAutofit/>
          </a:bodyPr>
          <a:lstStyle/>
          <a:p>
            <a:pPr algn="ctr">
              <a:lnSpc>
                <a:spcPct val="90000"/>
              </a:lnSpc>
              <a:spcAft>
                <a:spcPts val="600"/>
              </a:spcAft>
            </a:pPr>
            <a:r>
              <a:rPr lang="en-US" sz="2400" dirty="0"/>
              <a:t>Know-How </a:t>
            </a:r>
            <a:r>
              <a:rPr lang="en-US" sz="2400" dirty="0" err="1"/>
              <a:t>bündeln</a:t>
            </a:r>
            <a:endParaRPr lang="en-US" sz="2400" dirty="0"/>
          </a:p>
        </p:txBody>
      </p:sp>
      <p:pic>
        <p:nvPicPr>
          <p:cNvPr id="14" name="Grafik 13">
            <a:extLst>
              <a:ext uri="{FF2B5EF4-FFF2-40B4-BE49-F238E27FC236}">
                <a16:creationId xmlns:a16="http://schemas.microsoft.com/office/drawing/2014/main" id="{8B23F738-2072-333E-259B-54746F212B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91997" y="0"/>
            <a:ext cx="1800003" cy="1126417"/>
          </a:xfrm>
          <a:prstGeom prst="rect">
            <a:avLst/>
          </a:prstGeom>
        </p:spPr>
      </p:pic>
      <p:sp>
        <p:nvSpPr>
          <p:cNvPr id="32" name="Textfeld 31">
            <a:extLst>
              <a:ext uri="{FF2B5EF4-FFF2-40B4-BE49-F238E27FC236}">
                <a16:creationId xmlns:a16="http://schemas.microsoft.com/office/drawing/2014/main" id="{0EA9582E-16AC-2D50-25F5-501064E56622}"/>
              </a:ext>
            </a:extLst>
          </p:cNvPr>
          <p:cNvSpPr txBox="1"/>
          <p:nvPr/>
        </p:nvSpPr>
        <p:spPr>
          <a:xfrm>
            <a:off x="3449756" y="4281394"/>
            <a:ext cx="2523153" cy="757130"/>
          </a:xfrm>
          <a:prstGeom prst="rect">
            <a:avLst/>
          </a:prstGeom>
          <a:noFill/>
        </p:spPr>
        <p:txBody>
          <a:bodyPr vert="horz" wrap="square" anchor="t">
            <a:spAutoFit/>
          </a:bodyPr>
          <a:lstStyle/>
          <a:p>
            <a:pPr algn="ctr">
              <a:lnSpc>
                <a:spcPct val="90000"/>
              </a:lnSpc>
              <a:spcAft>
                <a:spcPts val="600"/>
              </a:spcAft>
            </a:pPr>
            <a:r>
              <a:rPr lang="en-US" sz="2400" dirty="0" err="1"/>
              <a:t>Austausch</a:t>
            </a:r>
            <a:r>
              <a:rPr lang="en-US" sz="2400" dirty="0"/>
              <a:t> &amp; </a:t>
            </a:r>
            <a:r>
              <a:rPr lang="en-US" sz="2400" dirty="0" err="1"/>
              <a:t>Vernetzen</a:t>
            </a:r>
            <a:endParaRPr lang="en-US" sz="2400" dirty="0"/>
          </a:p>
        </p:txBody>
      </p:sp>
      <p:sp>
        <p:nvSpPr>
          <p:cNvPr id="36" name="Textfeld 35">
            <a:extLst>
              <a:ext uri="{FF2B5EF4-FFF2-40B4-BE49-F238E27FC236}">
                <a16:creationId xmlns:a16="http://schemas.microsoft.com/office/drawing/2014/main" id="{620B8548-6797-945B-B19A-22D185F5AE61}"/>
              </a:ext>
            </a:extLst>
          </p:cNvPr>
          <p:cNvSpPr txBox="1"/>
          <p:nvPr/>
        </p:nvSpPr>
        <p:spPr>
          <a:xfrm>
            <a:off x="6275851" y="4281394"/>
            <a:ext cx="2523153" cy="424732"/>
          </a:xfrm>
          <a:prstGeom prst="rect">
            <a:avLst/>
          </a:prstGeom>
          <a:noFill/>
        </p:spPr>
        <p:txBody>
          <a:bodyPr vert="horz" wrap="square" anchor="t">
            <a:spAutoFit/>
          </a:bodyPr>
          <a:lstStyle/>
          <a:p>
            <a:pPr algn="ctr">
              <a:lnSpc>
                <a:spcPct val="90000"/>
              </a:lnSpc>
              <a:spcAft>
                <a:spcPts val="600"/>
              </a:spcAft>
            </a:pPr>
            <a:r>
              <a:rPr lang="en-US" sz="2400" dirty="0" err="1"/>
              <a:t>Synergien</a:t>
            </a:r>
            <a:r>
              <a:rPr lang="en-US" sz="2400" dirty="0"/>
              <a:t> </a:t>
            </a:r>
            <a:r>
              <a:rPr lang="en-US" sz="2400" dirty="0" err="1"/>
              <a:t>nutzen</a:t>
            </a:r>
            <a:endParaRPr lang="en-US" sz="2400" dirty="0"/>
          </a:p>
        </p:txBody>
      </p:sp>
      <p:sp>
        <p:nvSpPr>
          <p:cNvPr id="40" name="Textfeld 39">
            <a:extLst>
              <a:ext uri="{FF2B5EF4-FFF2-40B4-BE49-F238E27FC236}">
                <a16:creationId xmlns:a16="http://schemas.microsoft.com/office/drawing/2014/main" id="{941A8510-AD1F-3131-B835-19F8BE9D485B}"/>
              </a:ext>
            </a:extLst>
          </p:cNvPr>
          <p:cNvSpPr txBox="1"/>
          <p:nvPr/>
        </p:nvSpPr>
        <p:spPr>
          <a:xfrm>
            <a:off x="9197834" y="4281394"/>
            <a:ext cx="2309021" cy="1089529"/>
          </a:xfrm>
          <a:prstGeom prst="rect">
            <a:avLst/>
          </a:prstGeom>
          <a:noFill/>
        </p:spPr>
        <p:txBody>
          <a:bodyPr vert="horz" wrap="square" anchor="t">
            <a:spAutoFit/>
          </a:bodyPr>
          <a:lstStyle/>
          <a:p>
            <a:pPr algn="ctr">
              <a:lnSpc>
                <a:spcPct val="90000"/>
              </a:lnSpc>
              <a:spcAft>
                <a:spcPts val="600"/>
              </a:spcAft>
            </a:pPr>
            <a:r>
              <a:rPr lang="en-US" sz="2400" dirty="0" err="1"/>
              <a:t>Sichtbarkeit</a:t>
            </a:r>
            <a:r>
              <a:rPr lang="en-US" sz="2400" dirty="0"/>
              <a:t> Region &amp; </a:t>
            </a:r>
            <a:r>
              <a:rPr lang="en-US" sz="2400" dirty="0" err="1"/>
              <a:t>Unternehmen</a:t>
            </a:r>
            <a:endParaRPr lang="en-US" sz="2400" dirty="0"/>
          </a:p>
        </p:txBody>
      </p:sp>
    </p:spTree>
    <p:extLst>
      <p:ext uri="{BB962C8B-B14F-4D97-AF65-F5344CB8AC3E}">
        <p14:creationId xmlns:p14="http://schemas.microsoft.com/office/powerpoint/2010/main" val="3058812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rafik 4">
            <a:extLst>
              <a:ext uri="{FF2B5EF4-FFF2-40B4-BE49-F238E27FC236}">
                <a16:creationId xmlns:a16="http://schemas.microsoft.com/office/drawing/2014/main" id="{D4C0921D-28F9-64DE-3702-6F750DBEA182}"/>
              </a:ext>
            </a:extLst>
          </p:cNvPr>
          <p:cNvSpPr/>
          <p:nvPr/>
        </p:nvSpPr>
        <p:spPr>
          <a:xfrm>
            <a:off x="2677063" y="950984"/>
            <a:ext cx="1247058" cy="1452741"/>
          </a:xfrm>
          <a:custGeom>
            <a:avLst/>
            <a:gdLst>
              <a:gd name="connsiteX0" fmla="*/ 678594 w 1247058"/>
              <a:gd name="connsiteY0" fmla="*/ 1452742 h 1452741"/>
              <a:gd name="connsiteX1" fmla="*/ 0 w 1247058"/>
              <a:gd name="connsiteY1" fmla="*/ 1452742 h 1452741"/>
              <a:gd name="connsiteX2" fmla="*/ 568464 w 1247058"/>
              <a:gd name="connsiteY2" fmla="*/ 726371 h 1452741"/>
              <a:gd name="connsiteX3" fmla="*/ 0 w 1247058"/>
              <a:gd name="connsiteY3" fmla="*/ 0 h 1452741"/>
              <a:gd name="connsiteX4" fmla="*/ 678594 w 1247058"/>
              <a:gd name="connsiteY4" fmla="*/ 0 h 1452741"/>
              <a:gd name="connsiteX5" fmla="*/ 1247058 w 1247058"/>
              <a:gd name="connsiteY5" fmla="*/ 726371 h 1452741"/>
              <a:gd name="connsiteX6" fmla="*/ 678594 w 1247058"/>
              <a:gd name="connsiteY6" fmla="*/ 1452742 h 1452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7058" h="1452741">
                <a:moveTo>
                  <a:pt x="678594" y="1452742"/>
                </a:moveTo>
                <a:lnTo>
                  <a:pt x="0" y="1452742"/>
                </a:lnTo>
                <a:lnTo>
                  <a:pt x="568464" y="726371"/>
                </a:lnTo>
                <a:lnTo>
                  <a:pt x="0" y="0"/>
                </a:lnTo>
                <a:lnTo>
                  <a:pt x="678594" y="0"/>
                </a:lnTo>
                <a:lnTo>
                  <a:pt x="1247058" y="726371"/>
                </a:lnTo>
                <a:lnTo>
                  <a:pt x="678594" y="1452742"/>
                </a:lnTo>
                <a:close/>
              </a:path>
            </a:pathLst>
          </a:custGeom>
          <a:solidFill>
            <a:srgbClr val="6C66AC"/>
          </a:solidFill>
          <a:ln w="40386" cap="flat">
            <a:noFill/>
            <a:prstDash val="solid"/>
            <a:miter/>
          </a:ln>
        </p:spPr>
        <p:txBody>
          <a:bodyPr rtlCol="0" anchor="ctr"/>
          <a:lstStyle/>
          <a:p>
            <a:endParaRPr lang="de-DE"/>
          </a:p>
        </p:txBody>
      </p:sp>
      <p:sp>
        <p:nvSpPr>
          <p:cNvPr id="12" name="Grafik 2">
            <a:extLst>
              <a:ext uri="{FF2B5EF4-FFF2-40B4-BE49-F238E27FC236}">
                <a16:creationId xmlns:a16="http://schemas.microsoft.com/office/drawing/2014/main" id="{93FB8B2E-BFB5-5BC6-729A-5C3628818683}"/>
              </a:ext>
            </a:extLst>
          </p:cNvPr>
          <p:cNvSpPr/>
          <p:nvPr/>
        </p:nvSpPr>
        <p:spPr>
          <a:xfrm>
            <a:off x="1186962" y="4066622"/>
            <a:ext cx="595887" cy="694170"/>
          </a:xfrm>
          <a:custGeom>
            <a:avLst/>
            <a:gdLst>
              <a:gd name="connsiteX0" fmla="*/ 678594 w 1247058"/>
              <a:gd name="connsiteY0" fmla="*/ 1452742 h 1452742"/>
              <a:gd name="connsiteX1" fmla="*/ 0 w 1247058"/>
              <a:gd name="connsiteY1" fmla="*/ 1452742 h 1452742"/>
              <a:gd name="connsiteX2" fmla="*/ 568464 w 1247058"/>
              <a:gd name="connsiteY2" fmla="*/ 726371 h 1452742"/>
              <a:gd name="connsiteX3" fmla="*/ 0 w 1247058"/>
              <a:gd name="connsiteY3" fmla="*/ 0 h 1452742"/>
              <a:gd name="connsiteX4" fmla="*/ 678594 w 1247058"/>
              <a:gd name="connsiteY4" fmla="*/ 0 h 1452742"/>
              <a:gd name="connsiteX5" fmla="*/ 1247059 w 1247058"/>
              <a:gd name="connsiteY5" fmla="*/ 726371 h 1452742"/>
              <a:gd name="connsiteX6" fmla="*/ 678594 w 1247058"/>
              <a:gd name="connsiteY6" fmla="*/ 1452742 h 1452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7058" h="1452742">
                <a:moveTo>
                  <a:pt x="678594" y="1452742"/>
                </a:moveTo>
                <a:lnTo>
                  <a:pt x="0" y="1452742"/>
                </a:lnTo>
                <a:lnTo>
                  <a:pt x="568464" y="726371"/>
                </a:lnTo>
                <a:lnTo>
                  <a:pt x="0" y="0"/>
                </a:lnTo>
                <a:lnTo>
                  <a:pt x="678594" y="0"/>
                </a:lnTo>
                <a:lnTo>
                  <a:pt x="1247059" y="726371"/>
                </a:lnTo>
                <a:lnTo>
                  <a:pt x="678594" y="1452742"/>
                </a:lnTo>
                <a:close/>
              </a:path>
            </a:pathLst>
          </a:custGeom>
          <a:solidFill>
            <a:srgbClr val="6C66AC"/>
          </a:solidFill>
          <a:ln w="40386" cap="flat">
            <a:noFill/>
            <a:prstDash val="solid"/>
            <a:miter/>
          </a:ln>
        </p:spPr>
        <p:txBody>
          <a:bodyPr rtlCol="0" anchor="ctr"/>
          <a:lstStyle/>
          <a:p>
            <a:endParaRPr lang="de-DE"/>
          </a:p>
        </p:txBody>
      </p:sp>
      <p:sp>
        <p:nvSpPr>
          <p:cNvPr id="10" name="Grafik 10">
            <a:extLst>
              <a:ext uri="{FF2B5EF4-FFF2-40B4-BE49-F238E27FC236}">
                <a16:creationId xmlns:a16="http://schemas.microsoft.com/office/drawing/2014/main" id="{21B0CE7D-22D5-FD81-EC6F-D876EA605AB1}"/>
              </a:ext>
            </a:extLst>
          </p:cNvPr>
          <p:cNvSpPr/>
          <p:nvPr/>
        </p:nvSpPr>
        <p:spPr>
          <a:xfrm>
            <a:off x="3195559" y="4846685"/>
            <a:ext cx="1242650" cy="1447607"/>
          </a:xfrm>
          <a:custGeom>
            <a:avLst/>
            <a:gdLst>
              <a:gd name="connsiteX0" fmla="*/ 676196 w 1242650"/>
              <a:gd name="connsiteY0" fmla="*/ 1447607 h 1447607"/>
              <a:gd name="connsiteX1" fmla="*/ 0 w 1242650"/>
              <a:gd name="connsiteY1" fmla="*/ 1447607 h 1447607"/>
              <a:gd name="connsiteX2" fmla="*/ 566455 w 1242650"/>
              <a:gd name="connsiteY2" fmla="*/ 723804 h 1447607"/>
              <a:gd name="connsiteX3" fmla="*/ 0 w 1242650"/>
              <a:gd name="connsiteY3" fmla="*/ 0 h 1447607"/>
              <a:gd name="connsiteX4" fmla="*/ 676196 w 1242650"/>
              <a:gd name="connsiteY4" fmla="*/ 0 h 1447607"/>
              <a:gd name="connsiteX5" fmla="*/ 1242651 w 1242650"/>
              <a:gd name="connsiteY5" fmla="*/ 723804 h 1447607"/>
              <a:gd name="connsiteX6" fmla="*/ 676196 w 1242650"/>
              <a:gd name="connsiteY6" fmla="*/ 1447607 h 144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2650" h="1447607">
                <a:moveTo>
                  <a:pt x="676196" y="1447607"/>
                </a:moveTo>
                <a:lnTo>
                  <a:pt x="0" y="1447607"/>
                </a:lnTo>
                <a:lnTo>
                  <a:pt x="566455" y="723804"/>
                </a:lnTo>
                <a:lnTo>
                  <a:pt x="0" y="0"/>
                </a:lnTo>
                <a:lnTo>
                  <a:pt x="676196" y="0"/>
                </a:lnTo>
                <a:lnTo>
                  <a:pt x="1242651" y="723804"/>
                </a:lnTo>
                <a:lnTo>
                  <a:pt x="676196" y="1447607"/>
                </a:lnTo>
                <a:close/>
              </a:path>
            </a:pathLst>
          </a:custGeom>
          <a:solidFill>
            <a:srgbClr val="6C66AC"/>
          </a:solidFill>
          <a:ln w="40196" cap="flat">
            <a:noFill/>
            <a:prstDash val="solid"/>
            <a:miter/>
          </a:ln>
        </p:spPr>
        <p:txBody>
          <a:bodyPr rtlCol="0" anchor="ctr"/>
          <a:lstStyle/>
          <a:p>
            <a:endParaRPr lang="de-DE"/>
          </a:p>
        </p:txBody>
      </p:sp>
      <p:sp>
        <p:nvSpPr>
          <p:cNvPr id="6" name="Textfeld 5">
            <a:extLst>
              <a:ext uri="{FF2B5EF4-FFF2-40B4-BE49-F238E27FC236}">
                <a16:creationId xmlns:a16="http://schemas.microsoft.com/office/drawing/2014/main" id="{EFBFE327-BF01-02E6-BB1F-F7C1EFF7DF5A}"/>
              </a:ext>
            </a:extLst>
          </p:cNvPr>
          <p:cNvSpPr txBox="1"/>
          <p:nvPr/>
        </p:nvSpPr>
        <p:spPr>
          <a:xfrm>
            <a:off x="658585" y="3152001"/>
            <a:ext cx="5100963" cy="553998"/>
          </a:xfrm>
          <a:prstGeom prst="rect">
            <a:avLst/>
          </a:prstGeom>
          <a:noFill/>
        </p:spPr>
        <p:txBody>
          <a:bodyPr wrap="square" lIns="91440" tIns="45720" rIns="91440" bIns="45720" anchor="t">
            <a:spAutoFit/>
          </a:bodyPr>
          <a:lstStyle/>
          <a:p>
            <a:pPr algn="ctr"/>
            <a:r>
              <a:rPr lang="de-DE" sz="3000" b="1" dirty="0"/>
              <a:t> VEREINSARBEIT </a:t>
            </a:r>
          </a:p>
        </p:txBody>
      </p:sp>
      <p:sp>
        <p:nvSpPr>
          <p:cNvPr id="7" name="Grafik 27">
            <a:extLst>
              <a:ext uri="{FF2B5EF4-FFF2-40B4-BE49-F238E27FC236}">
                <a16:creationId xmlns:a16="http://schemas.microsoft.com/office/drawing/2014/main" id="{B31C118B-C558-45A9-C6B0-FC08038E2F4C}"/>
              </a:ext>
            </a:extLst>
          </p:cNvPr>
          <p:cNvSpPr/>
          <p:nvPr/>
        </p:nvSpPr>
        <p:spPr>
          <a:xfrm>
            <a:off x="5900790" y="2855885"/>
            <a:ext cx="1089288" cy="1268949"/>
          </a:xfrm>
          <a:custGeom>
            <a:avLst/>
            <a:gdLst>
              <a:gd name="connsiteX0" fmla="*/ 592743 w 1089288"/>
              <a:gd name="connsiteY0" fmla="*/ 1268950 h 1268949"/>
              <a:gd name="connsiteX1" fmla="*/ 0 w 1089288"/>
              <a:gd name="connsiteY1" fmla="*/ 1268950 h 1268949"/>
              <a:gd name="connsiteX2" fmla="*/ 496546 w 1089288"/>
              <a:gd name="connsiteY2" fmla="*/ 634475 h 1268949"/>
              <a:gd name="connsiteX3" fmla="*/ 0 w 1089288"/>
              <a:gd name="connsiteY3" fmla="*/ 0 h 1268949"/>
              <a:gd name="connsiteX4" fmla="*/ 592743 w 1089288"/>
              <a:gd name="connsiteY4" fmla="*/ 0 h 1268949"/>
              <a:gd name="connsiteX5" fmla="*/ 1089288 w 1089288"/>
              <a:gd name="connsiteY5" fmla="*/ 634475 h 1268949"/>
              <a:gd name="connsiteX6" fmla="*/ 592743 w 1089288"/>
              <a:gd name="connsiteY6" fmla="*/ 1268950 h 1268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9288" h="1268949">
                <a:moveTo>
                  <a:pt x="592743" y="1268950"/>
                </a:moveTo>
                <a:lnTo>
                  <a:pt x="0" y="1268950"/>
                </a:lnTo>
                <a:lnTo>
                  <a:pt x="496546" y="634475"/>
                </a:lnTo>
                <a:lnTo>
                  <a:pt x="0" y="0"/>
                </a:lnTo>
                <a:lnTo>
                  <a:pt x="592743" y="0"/>
                </a:lnTo>
                <a:lnTo>
                  <a:pt x="1089288" y="634475"/>
                </a:lnTo>
                <a:lnTo>
                  <a:pt x="592743" y="1268950"/>
                </a:lnTo>
                <a:close/>
              </a:path>
            </a:pathLst>
          </a:custGeom>
          <a:solidFill>
            <a:srgbClr val="41B6A3"/>
          </a:solidFill>
          <a:ln w="35243" cap="flat">
            <a:noFill/>
            <a:prstDash val="solid"/>
            <a:miter/>
          </a:ln>
        </p:spPr>
        <p:txBody>
          <a:bodyPr rtlCol="0" anchor="ctr"/>
          <a:lstStyle/>
          <a:p>
            <a:endParaRPr lang="de-DE"/>
          </a:p>
        </p:txBody>
      </p:sp>
      <p:pic>
        <p:nvPicPr>
          <p:cNvPr id="13" name="Grafik 12">
            <a:extLst>
              <a:ext uri="{FF2B5EF4-FFF2-40B4-BE49-F238E27FC236}">
                <a16:creationId xmlns:a16="http://schemas.microsoft.com/office/drawing/2014/main" id="{2250134F-8817-137E-429B-203A2DAF91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91997" y="0"/>
            <a:ext cx="1800003" cy="1126417"/>
          </a:xfrm>
          <a:prstGeom prst="rect">
            <a:avLst/>
          </a:prstGeom>
        </p:spPr>
      </p:pic>
      <p:sp>
        <p:nvSpPr>
          <p:cNvPr id="2" name="Textfeld 1">
            <a:extLst>
              <a:ext uri="{FF2B5EF4-FFF2-40B4-BE49-F238E27FC236}">
                <a16:creationId xmlns:a16="http://schemas.microsoft.com/office/drawing/2014/main" id="{4480122B-4C67-8D67-8307-013CB9BEAE1B}"/>
              </a:ext>
            </a:extLst>
          </p:cNvPr>
          <p:cNvSpPr txBox="1"/>
          <p:nvPr/>
        </p:nvSpPr>
        <p:spPr>
          <a:xfrm>
            <a:off x="7316455" y="2981011"/>
            <a:ext cx="397537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600"/>
              </a:spcBef>
            </a:pPr>
            <a:r>
              <a:rPr lang="de-DE" sz="6000" b="1" dirty="0">
                <a:solidFill>
                  <a:srgbClr val="00AB97"/>
                </a:solidFill>
                <a:ea typeface="Calibri"/>
                <a:cs typeface="Calibri"/>
              </a:rPr>
              <a:t>Fokus</a:t>
            </a:r>
          </a:p>
        </p:txBody>
      </p:sp>
    </p:spTree>
    <p:extLst>
      <p:ext uri="{BB962C8B-B14F-4D97-AF65-F5344CB8AC3E}">
        <p14:creationId xmlns:p14="http://schemas.microsoft.com/office/powerpoint/2010/main" val="120625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F641-FE89-18D4-0602-16A4E8167250}"/>
            </a:ext>
          </a:extLst>
        </p:cNvPr>
        <p:cNvGrpSpPr/>
        <p:nvPr/>
      </p:nvGrpSpPr>
      <p:grpSpPr>
        <a:xfrm>
          <a:off x="0" y="0"/>
          <a:ext cx="0" cy="0"/>
          <a:chOff x="0" y="0"/>
          <a:chExt cx="0" cy="0"/>
        </a:xfrm>
      </p:grpSpPr>
      <p:grpSp>
        <p:nvGrpSpPr>
          <p:cNvPr id="8" name="Gruppieren 7">
            <a:extLst>
              <a:ext uri="{FF2B5EF4-FFF2-40B4-BE49-F238E27FC236}">
                <a16:creationId xmlns:a16="http://schemas.microsoft.com/office/drawing/2014/main" id="{CC79A597-91F8-CACC-DD66-01E43A8E4A4E}"/>
              </a:ext>
            </a:extLst>
          </p:cNvPr>
          <p:cNvGrpSpPr/>
          <p:nvPr/>
        </p:nvGrpSpPr>
        <p:grpSpPr>
          <a:xfrm>
            <a:off x="879148" y="867903"/>
            <a:ext cx="4305095" cy="2160852"/>
            <a:chOff x="144124" y="683854"/>
            <a:chExt cx="4331182" cy="2231185"/>
          </a:xfrm>
        </p:grpSpPr>
        <p:sp>
          <p:nvSpPr>
            <p:cNvPr id="24" name="Grafik 1">
              <a:extLst>
                <a:ext uri="{FF2B5EF4-FFF2-40B4-BE49-F238E27FC236}">
                  <a16:creationId xmlns:a16="http://schemas.microsoft.com/office/drawing/2014/main" id="{5645FE28-0F2F-B28C-45F8-FFC8FCB4F7F9}"/>
                </a:ext>
              </a:extLst>
            </p:cNvPr>
            <p:cNvSpPr/>
            <p:nvPr/>
          </p:nvSpPr>
          <p:spPr>
            <a:xfrm>
              <a:off x="144124" y="683854"/>
              <a:ext cx="3745887" cy="2231185"/>
            </a:xfrm>
            <a:custGeom>
              <a:avLst/>
              <a:gdLst>
                <a:gd name="connsiteX0" fmla="*/ 0 w 6410665"/>
                <a:gd name="connsiteY0" fmla="*/ 0 h 1748099"/>
                <a:gd name="connsiteX1" fmla="*/ 6410666 w 6410665"/>
                <a:gd name="connsiteY1" fmla="*/ 0 h 1748099"/>
                <a:gd name="connsiteX2" fmla="*/ 6410666 w 6410665"/>
                <a:gd name="connsiteY2" fmla="*/ 1748099 h 1748099"/>
                <a:gd name="connsiteX3" fmla="*/ 0 w 6410665"/>
                <a:gd name="connsiteY3" fmla="*/ 1748099 h 1748099"/>
              </a:gdLst>
              <a:ahLst/>
              <a:cxnLst>
                <a:cxn ang="0">
                  <a:pos x="connsiteX0" y="connsiteY0"/>
                </a:cxn>
                <a:cxn ang="0">
                  <a:pos x="connsiteX1" y="connsiteY1"/>
                </a:cxn>
                <a:cxn ang="0">
                  <a:pos x="connsiteX2" y="connsiteY2"/>
                </a:cxn>
                <a:cxn ang="0">
                  <a:pos x="connsiteX3" y="connsiteY3"/>
                </a:cxn>
              </a:cxnLst>
              <a:rect l="l" t="t" r="r" b="b"/>
              <a:pathLst>
                <a:path w="6410665" h="1748099">
                  <a:moveTo>
                    <a:pt x="0" y="0"/>
                  </a:moveTo>
                  <a:lnTo>
                    <a:pt x="6410666" y="0"/>
                  </a:lnTo>
                  <a:lnTo>
                    <a:pt x="6410666" y="1748099"/>
                  </a:lnTo>
                  <a:lnTo>
                    <a:pt x="0" y="1748099"/>
                  </a:lnTo>
                  <a:close/>
                </a:path>
              </a:pathLst>
            </a:custGeom>
            <a:solidFill>
              <a:srgbClr val="E9496E"/>
            </a:solidFill>
            <a:ln w="29860" cap="flat">
              <a:noFill/>
              <a:prstDash val="solid"/>
              <a:miter/>
            </a:ln>
          </p:spPr>
          <p:txBody>
            <a:bodyPr rtlCol="0" anchor="ctr"/>
            <a:lstStyle/>
            <a:p>
              <a:endParaRPr lang="de-DE"/>
            </a:p>
          </p:txBody>
        </p:sp>
        <p:sp>
          <p:nvSpPr>
            <p:cNvPr id="3" name="Textfeld 2">
              <a:extLst>
                <a:ext uri="{FF2B5EF4-FFF2-40B4-BE49-F238E27FC236}">
                  <a16:creationId xmlns:a16="http://schemas.microsoft.com/office/drawing/2014/main" id="{5F2C68DD-3FF9-6BD7-3CC0-18B048DB72E2}"/>
                </a:ext>
              </a:extLst>
            </p:cNvPr>
            <p:cNvSpPr txBox="1"/>
            <p:nvPr/>
          </p:nvSpPr>
          <p:spPr>
            <a:xfrm>
              <a:off x="216562" y="1322392"/>
              <a:ext cx="4258744" cy="954107"/>
            </a:xfrm>
            <a:prstGeom prst="rect">
              <a:avLst/>
            </a:prstGeom>
            <a:noFill/>
          </p:spPr>
          <p:txBody>
            <a:bodyPr wrap="square">
              <a:spAutoFit/>
            </a:bodyPr>
            <a:lstStyle/>
            <a:p>
              <a:r>
                <a:rPr lang="de-DE" sz="2800" b="1" dirty="0">
                  <a:solidFill>
                    <a:schemeClr val="bg1"/>
                  </a:solidFill>
                </a:rPr>
                <a:t>Anbindung öffentlicher Verkehrsmittel</a:t>
              </a:r>
            </a:p>
          </p:txBody>
        </p:sp>
      </p:grpSp>
      <p:grpSp>
        <p:nvGrpSpPr>
          <p:cNvPr id="5" name="Gruppieren 4">
            <a:extLst>
              <a:ext uri="{FF2B5EF4-FFF2-40B4-BE49-F238E27FC236}">
                <a16:creationId xmlns:a16="http://schemas.microsoft.com/office/drawing/2014/main" id="{22A3BAE6-A026-286D-CF06-3DF904ADF404}"/>
              </a:ext>
            </a:extLst>
          </p:cNvPr>
          <p:cNvGrpSpPr/>
          <p:nvPr/>
        </p:nvGrpSpPr>
        <p:grpSpPr>
          <a:xfrm>
            <a:off x="4234337" y="3205447"/>
            <a:ext cx="3723325" cy="2160852"/>
            <a:chOff x="7921779" y="2653363"/>
            <a:chExt cx="4031768" cy="2572877"/>
          </a:xfrm>
        </p:grpSpPr>
        <p:sp>
          <p:nvSpPr>
            <p:cNvPr id="22" name="Grafik 9">
              <a:extLst>
                <a:ext uri="{FF2B5EF4-FFF2-40B4-BE49-F238E27FC236}">
                  <a16:creationId xmlns:a16="http://schemas.microsoft.com/office/drawing/2014/main" id="{C9A444E3-492D-E86C-6FC7-A78D78345C1C}"/>
                </a:ext>
              </a:extLst>
            </p:cNvPr>
            <p:cNvSpPr/>
            <p:nvPr/>
          </p:nvSpPr>
          <p:spPr>
            <a:xfrm>
              <a:off x="7921779" y="2653363"/>
              <a:ext cx="4031768" cy="2572877"/>
            </a:xfrm>
            <a:custGeom>
              <a:avLst/>
              <a:gdLst>
                <a:gd name="connsiteX0" fmla="*/ 0 w 10027055"/>
                <a:gd name="connsiteY0" fmla="*/ 0 h 3431601"/>
                <a:gd name="connsiteX1" fmla="*/ 10027056 w 10027055"/>
                <a:gd name="connsiteY1" fmla="*/ 0 h 3431601"/>
                <a:gd name="connsiteX2" fmla="*/ 10027056 w 10027055"/>
                <a:gd name="connsiteY2" fmla="*/ 3431602 h 3431601"/>
                <a:gd name="connsiteX3" fmla="*/ 0 w 10027055"/>
                <a:gd name="connsiteY3" fmla="*/ 3431602 h 3431601"/>
              </a:gdLst>
              <a:ahLst/>
              <a:cxnLst>
                <a:cxn ang="0">
                  <a:pos x="connsiteX0" y="connsiteY0"/>
                </a:cxn>
                <a:cxn ang="0">
                  <a:pos x="connsiteX1" y="connsiteY1"/>
                </a:cxn>
                <a:cxn ang="0">
                  <a:pos x="connsiteX2" y="connsiteY2"/>
                </a:cxn>
                <a:cxn ang="0">
                  <a:pos x="connsiteX3" y="connsiteY3"/>
                </a:cxn>
              </a:cxnLst>
              <a:rect l="l" t="t" r="r" b="b"/>
              <a:pathLst>
                <a:path w="10027055" h="3431601">
                  <a:moveTo>
                    <a:pt x="0" y="0"/>
                  </a:moveTo>
                  <a:lnTo>
                    <a:pt x="10027056" y="0"/>
                  </a:lnTo>
                  <a:lnTo>
                    <a:pt x="10027056" y="3431602"/>
                  </a:lnTo>
                  <a:lnTo>
                    <a:pt x="0" y="3431602"/>
                  </a:lnTo>
                  <a:close/>
                </a:path>
              </a:pathLst>
            </a:custGeom>
            <a:solidFill>
              <a:srgbClr val="41B6A3"/>
            </a:solidFill>
            <a:ln w="46739" cap="flat">
              <a:noFill/>
              <a:prstDash val="solid"/>
              <a:miter/>
            </a:ln>
          </p:spPr>
          <p:txBody>
            <a:bodyPr rtlCol="0" anchor="ctr"/>
            <a:lstStyle/>
            <a:p>
              <a:endParaRPr lang="de-DE"/>
            </a:p>
          </p:txBody>
        </p:sp>
        <p:sp>
          <p:nvSpPr>
            <p:cNvPr id="7" name="Textfeld 6">
              <a:extLst>
                <a:ext uri="{FF2B5EF4-FFF2-40B4-BE49-F238E27FC236}">
                  <a16:creationId xmlns:a16="http://schemas.microsoft.com/office/drawing/2014/main" id="{21836576-6D3C-6445-F29E-05B01DFAD4A8}"/>
                </a:ext>
              </a:extLst>
            </p:cNvPr>
            <p:cNvSpPr txBox="1"/>
            <p:nvPr/>
          </p:nvSpPr>
          <p:spPr>
            <a:xfrm>
              <a:off x="8135649" y="3116339"/>
              <a:ext cx="3379367" cy="2107159"/>
            </a:xfrm>
            <a:prstGeom prst="rect">
              <a:avLst/>
            </a:prstGeom>
            <a:noFill/>
          </p:spPr>
          <p:txBody>
            <a:bodyPr wrap="square">
              <a:spAutoFit/>
            </a:bodyPr>
            <a:lstStyle/>
            <a:p>
              <a:r>
                <a:rPr lang="de-DE" sz="2800" b="1" dirty="0">
                  <a:solidFill>
                    <a:schemeClr val="bg1"/>
                  </a:solidFill>
                  <a:ea typeface="Calibri"/>
                  <a:cs typeface="Calibri"/>
                </a:rPr>
                <a:t>Kooperation mit Bildungsträgern in Wilsdruff</a:t>
              </a:r>
            </a:p>
            <a:p>
              <a:endParaRPr lang="de-DE" sz="2500" dirty="0">
                <a:solidFill>
                  <a:schemeClr val="bg1"/>
                </a:solidFill>
              </a:endParaRPr>
            </a:p>
          </p:txBody>
        </p:sp>
      </p:grpSp>
      <p:grpSp>
        <p:nvGrpSpPr>
          <p:cNvPr id="14" name="Gruppieren 13">
            <a:extLst>
              <a:ext uri="{FF2B5EF4-FFF2-40B4-BE49-F238E27FC236}">
                <a16:creationId xmlns:a16="http://schemas.microsoft.com/office/drawing/2014/main" id="{0AB4F225-A438-4F6B-A2C6-7759356E973D}"/>
              </a:ext>
            </a:extLst>
          </p:cNvPr>
          <p:cNvGrpSpPr/>
          <p:nvPr/>
        </p:nvGrpSpPr>
        <p:grpSpPr>
          <a:xfrm>
            <a:off x="8165136" y="4261893"/>
            <a:ext cx="3721264" cy="2169129"/>
            <a:chOff x="8918888" y="1160961"/>
            <a:chExt cx="4372973" cy="2139856"/>
          </a:xfrm>
        </p:grpSpPr>
        <p:sp>
          <p:nvSpPr>
            <p:cNvPr id="23" name="Grafik 13">
              <a:extLst>
                <a:ext uri="{FF2B5EF4-FFF2-40B4-BE49-F238E27FC236}">
                  <a16:creationId xmlns:a16="http://schemas.microsoft.com/office/drawing/2014/main" id="{EEDC4B38-86C4-EC83-F946-90514A04751D}"/>
                </a:ext>
              </a:extLst>
            </p:cNvPr>
            <p:cNvSpPr/>
            <p:nvPr/>
          </p:nvSpPr>
          <p:spPr>
            <a:xfrm>
              <a:off x="8918888" y="1160961"/>
              <a:ext cx="4372973" cy="2139856"/>
            </a:xfrm>
            <a:custGeom>
              <a:avLst/>
              <a:gdLst>
                <a:gd name="connsiteX0" fmla="*/ 0 w 5181421"/>
                <a:gd name="connsiteY0" fmla="*/ 0 h 2388360"/>
                <a:gd name="connsiteX1" fmla="*/ 5181421 w 5181421"/>
                <a:gd name="connsiteY1" fmla="*/ 0 h 2388360"/>
                <a:gd name="connsiteX2" fmla="*/ 5181421 w 5181421"/>
                <a:gd name="connsiteY2" fmla="*/ 2388360 h 2388360"/>
                <a:gd name="connsiteX3" fmla="*/ 0 w 5181421"/>
                <a:gd name="connsiteY3" fmla="*/ 2388360 h 2388360"/>
              </a:gdLst>
              <a:ahLst/>
              <a:cxnLst>
                <a:cxn ang="0">
                  <a:pos x="connsiteX0" y="connsiteY0"/>
                </a:cxn>
                <a:cxn ang="0">
                  <a:pos x="connsiteX1" y="connsiteY1"/>
                </a:cxn>
                <a:cxn ang="0">
                  <a:pos x="connsiteX2" y="connsiteY2"/>
                </a:cxn>
                <a:cxn ang="0">
                  <a:pos x="connsiteX3" y="connsiteY3"/>
                </a:cxn>
              </a:cxnLst>
              <a:rect l="l" t="t" r="r" b="b"/>
              <a:pathLst>
                <a:path w="5181421" h="2388360">
                  <a:moveTo>
                    <a:pt x="0" y="0"/>
                  </a:moveTo>
                  <a:lnTo>
                    <a:pt x="5181421" y="0"/>
                  </a:lnTo>
                  <a:lnTo>
                    <a:pt x="5181421" y="2388360"/>
                  </a:lnTo>
                  <a:lnTo>
                    <a:pt x="0" y="2388360"/>
                  </a:lnTo>
                  <a:close/>
                </a:path>
              </a:pathLst>
            </a:custGeom>
            <a:solidFill>
              <a:srgbClr val="F6CD00"/>
            </a:solidFill>
            <a:ln w="24145" cap="flat">
              <a:noFill/>
              <a:prstDash val="solid"/>
              <a:miter/>
            </a:ln>
          </p:spPr>
          <p:txBody>
            <a:bodyPr rtlCol="0" anchor="ctr"/>
            <a:lstStyle/>
            <a:p>
              <a:endParaRPr lang="de-DE"/>
            </a:p>
          </p:txBody>
        </p:sp>
        <p:sp>
          <p:nvSpPr>
            <p:cNvPr id="12" name="Textfeld 11">
              <a:extLst>
                <a:ext uri="{FF2B5EF4-FFF2-40B4-BE49-F238E27FC236}">
                  <a16:creationId xmlns:a16="http://schemas.microsoft.com/office/drawing/2014/main" id="{54048E3B-CD61-E56A-EC84-5F0E79E56F8B}"/>
                </a:ext>
              </a:extLst>
            </p:cNvPr>
            <p:cNvSpPr txBox="1"/>
            <p:nvPr/>
          </p:nvSpPr>
          <p:spPr>
            <a:xfrm>
              <a:off x="9282626" y="1462263"/>
              <a:ext cx="3782682" cy="1769715"/>
            </a:xfrm>
            <a:prstGeom prst="rect">
              <a:avLst/>
            </a:prstGeom>
            <a:noFill/>
          </p:spPr>
          <p:txBody>
            <a:bodyPr wrap="square">
              <a:spAutoFit/>
            </a:bodyPr>
            <a:lstStyle/>
            <a:p>
              <a:r>
                <a:rPr lang="de-DE" sz="2800" b="1" dirty="0">
                  <a:solidFill>
                    <a:schemeClr val="bg1"/>
                  </a:solidFill>
                  <a:ea typeface="Calibri"/>
                  <a:cs typeface="Calibri"/>
                </a:rPr>
                <a:t>Darstellung des Netzwerks und der Teilnehmer nach außen</a:t>
              </a:r>
            </a:p>
            <a:p>
              <a:endParaRPr lang="de-DE" sz="2500" dirty="0">
                <a:solidFill>
                  <a:schemeClr val="bg1"/>
                </a:solidFill>
              </a:endParaRPr>
            </a:p>
          </p:txBody>
        </p:sp>
      </p:grpSp>
      <p:pic>
        <p:nvPicPr>
          <p:cNvPr id="20" name="Grafik 19">
            <a:extLst>
              <a:ext uri="{FF2B5EF4-FFF2-40B4-BE49-F238E27FC236}">
                <a16:creationId xmlns:a16="http://schemas.microsoft.com/office/drawing/2014/main" id="{19D51045-8822-7086-4AC1-720A3B3921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91997" y="0"/>
            <a:ext cx="1800003" cy="1126417"/>
          </a:xfrm>
          <a:prstGeom prst="rect">
            <a:avLst/>
          </a:prstGeom>
        </p:spPr>
      </p:pic>
      <p:sp>
        <p:nvSpPr>
          <p:cNvPr id="2" name="Grafik 1">
            <a:extLst>
              <a:ext uri="{FF2B5EF4-FFF2-40B4-BE49-F238E27FC236}">
                <a16:creationId xmlns:a16="http://schemas.microsoft.com/office/drawing/2014/main" id="{B585112C-54D2-EA8D-E123-5D14231C4F36}"/>
              </a:ext>
            </a:extLst>
          </p:cNvPr>
          <p:cNvSpPr/>
          <p:nvPr/>
        </p:nvSpPr>
        <p:spPr>
          <a:xfrm>
            <a:off x="6785401" y="867903"/>
            <a:ext cx="3723325" cy="2160852"/>
          </a:xfrm>
          <a:custGeom>
            <a:avLst/>
            <a:gdLst>
              <a:gd name="connsiteX0" fmla="*/ 0 w 6410665"/>
              <a:gd name="connsiteY0" fmla="*/ 0 h 1748099"/>
              <a:gd name="connsiteX1" fmla="*/ 6410666 w 6410665"/>
              <a:gd name="connsiteY1" fmla="*/ 0 h 1748099"/>
              <a:gd name="connsiteX2" fmla="*/ 6410666 w 6410665"/>
              <a:gd name="connsiteY2" fmla="*/ 1748099 h 1748099"/>
              <a:gd name="connsiteX3" fmla="*/ 0 w 6410665"/>
              <a:gd name="connsiteY3" fmla="*/ 1748099 h 1748099"/>
            </a:gdLst>
            <a:ahLst/>
            <a:cxnLst>
              <a:cxn ang="0">
                <a:pos x="connsiteX0" y="connsiteY0"/>
              </a:cxn>
              <a:cxn ang="0">
                <a:pos x="connsiteX1" y="connsiteY1"/>
              </a:cxn>
              <a:cxn ang="0">
                <a:pos x="connsiteX2" y="connsiteY2"/>
              </a:cxn>
              <a:cxn ang="0">
                <a:pos x="connsiteX3" y="connsiteY3"/>
              </a:cxn>
            </a:cxnLst>
            <a:rect l="l" t="t" r="r" b="b"/>
            <a:pathLst>
              <a:path w="6410665" h="1748099">
                <a:moveTo>
                  <a:pt x="0" y="0"/>
                </a:moveTo>
                <a:lnTo>
                  <a:pt x="6410666" y="0"/>
                </a:lnTo>
                <a:lnTo>
                  <a:pt x="6410666" y="1748099"/>
                </a:lnTo>
                <a:lnTo>
                  <a:pt x="0" y="1748099"/>
                </a:lnTo>
                <a:close/>
              </a:path>
            </a:pathLst>
          </a:custGeom>
          <a:solidFill>
            <a:srgbClr val="6C66AC"/>
          </a:solidFill>
          <a:ln w="29860" cap="flat">
            <a:noFill/>
            <a:prstDash val="solid"/>
            <a:miter/>
          </a:ln>
        </p:spPr>
        <p:txBody>
          <a:bodyPr rtlCol="0" anchor="ctr"/>
          <a:lstStyle/>
          <a:p>
            <a:pPr>
              <a:spcBef>
                <a:spcPts val="600"/>
              </a:spcBef>
            </a:pPr>
            <a:r>
              <a:rPr lang="de-DE" sz="2800" b="1" dirty="0">
                <a:solidFill>
                  <a:schemeClr val="bg1"/>
                </a:solidFill>
                <a:ea typeface="Calibri"/>
                <a:cs typeface="Calibri"/>
              </a:rPr>
              <a:t>Mitarbeitergewinnung /Mitarbeiterbindung</a:t>
            </a:r>
          </a:p>
        </p:txBody>
      </p:sp>
      <p:grpSp>
        <p:nvGrpSpPr>
          <p:cNvPr id="15" name="Gruppieren 14">
            <a:extLst>
              <a:ext uri="{FF2B5EF4-FFF2-40B4-BE49-F238E27FC236}">
                <a16:creationId xmlns:a16="http://schemas.microsoft.com/office/drawing/2014/main" id="{7455C02A-6C04-13CE-6449-393B4F3F3CAF}"/>
              </a:ext>
            </a:extLst>
          </p:cNvPr>
          <p:cNvGrpSpPr/>
          <p:nvPr/>
        </p:nvGrpSpPr>
        <p:grpSpPr>
          <a:xfrm>
            <a:off x="305599" y="4261893"/>
            <a:ext cx="3721264" cy="2139855"/>
            <a:chOff x="6033586" y="1370314"/>
            <a:chExt cx="3657617" cy="2231185"/>
          </a:xfrm>
        </p:grpSpPr>
        <p:sp>
          <p:nvSpPr>
            <p:cNvPr id="10" name="Grafik 1">
              <a:extLst>
                <a:ext uri="{FF2B5EF4-FFF2-40B4-BE49-F238E27FC236}">
                  <a16:creationId xmlns:a16="http://schemas.microsoft.com/office/drawing/2014/main" id="{7820294A-FA9C-2EE9-C136-501EDFDC8836}"/>
                </a:ext>
              </a:extLst>
            </p:cNvPr>
            <p:cNvSpPr/>
            <p:nvPr/>
          </p:nvSpPr>
          <p:spPr>
            <a:xfrm>
              <a:off x="6033586" y="1370314"/>
              <a:ext cx="3657617" cy="2231185"/>
            </a:xfrm>
            <a:custGeom>
              <a:avLst/>
              <a:gdLst>
                <a:gd name="connsiteX0" fmla="*/ 0 w 6410665"/>
                <a:gd name="connsiteY0" fmla="*/ 0 h 1748099"/>
                <a:gd name="connsiteX1" fmla="*/ 6410666 w 6410665"/>
                <a:gd name="connsiteY1" fmla="*/ 0 h 1748099"/>
                <a:gd name="connsiteX2" fmla="*/ 6410666 w 6410665"/>
                <a:gd name="connsiteY2" fmla="*/ 1748099 h 1748099"/>
                <a:gd name="connsiteX3" fmla="*/ 0 w 6410665"/>
                <a:gd name="connsiteY3" fmla="*/ 1748099 h 1748099"/>
              </a:gdLst>
              <a:ahLst/>
              <a:cxnLst>
                <a:cxn ang="0">
                  <a:pos x="connsiteX0" y="connsiteY0"/>
                </a:cxn>
                <a:cxn ang="0">
                  <a:pos x="connsiteX1" y="connsiteY1"/>
                </a:cxn>
                <a:cxn ang="0">
                  <a:pos x="connsiteX2" y="connsiteY2"/>
                </a:cxn>
                <a:cxn ang="0">
                  <a:pos x="connsiteX3" y="connsiteY3"/>
                </a:cxn>
              </a:cxnLst>
              <a:rect l="l" t="t" r="r" b="b"/>
              <a:pathLst>
                <a:path w="6410665" h="1748099">
                  <a:moveTo>
                    <a:pt x="0" y="0"/>
                  </a:moveTo>
                  <a:lnTo>
                    <a:pt x="6410666" y="0"/>
                  </a:lnTo>
                  <a:lnTo>
                    <a:pt x="6410666" y="1748099"/>
                  </a:lnTo>
                  <a:lnTo>
                    <a:pt x="0" y="1748099"/>
                  </a:lnTo>
                  <a:close/>
                </a:path>
              </a:pathLst>
            </a:custGeom>
            <a:solidFill>
              <a:schemeClr val="bg2">
                <a:lumMod val="75000"/>
              </a:schemeClr>
            </a:solidFill>
            <a:ln w="29860" cap="flat">
              <a:noFill/>
              <a:prstDash val="solid"/>
              <a:miter/>
            </a:ln>
          </p:spPr>
          <p:txBody>
            <a:bodyPr rtlCol="0" anchor="ctr"/>
            <a:lstStyle/>
            <a:p>
              <a:endParaRPr lang="de-DE"/>
            </a:p>
          </p:txBody>
        </p:sp>
        <p:sp>
          <p:nvSpPr>
            <p:cNvPr id="11" name="Textfeld 10">
              <a:extLst>
                <a:ext uri="{FF2B5EF4-FFF2-40B4-BE49-F238E27FC236}">
                  <a16:creationId xmlns:a16="http://schemas.microsoft.com/office/drawing/2014/main" id="{0380763F-5C3B-7D46-5712-72539545159B}"/>
                </a:ext>
              </a:extLst>
            </p:cNvPr>
            <p:cNvSpPr txBox="1"/>
            <p:nvPr/>
          </p:nvSpPr>
          <p:spPr>
            <a:xfrm>
              <a:off x="6659841" y="1897749"/>
              <a:ext cx="2574116" cy="954107"/>
            </a:xfrm>
            <a:prstGeom prst="rect">
              <a:avLst/>
            </a:prstGeom>
            <a:solidFill>
              <a:schemeClr val="bg2">
                <a:lumMod val="75000"/>
              </a:schemeClr>
            </a:solidFill>
          </p:spPr>
          <p:txBody>
            <a:bodyPr wrap="square">
              <a:spAutoFit/>
            </a:bodyPr>
            <a:lstStyle/>
            <a:p>
              <a:r>
                <a:rPr lang="de-DE" sz="2800" b="1" dirty="0">
                  <a:solidFill>
                    <a:schemeClr val="bg1"/>
                  </a:solidFill>
                </a:rPr>
                <a:t>Austausch &amp; Wissenstransfer</a:t>
              </a:r>
            </a:p>
          </p:txBody>
        </p:sp>
      </p:grpSp>
    </p:spTree>
    <p:extLst>
      <p:ext uri="{BB962C8B-B14F-4D97-AF65-F5344CB8AC3E}">
        <p14:creationId xmlns:p14="http://schemas.microsoft.com/office/powerpoint/2010/main" val="1868572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1AB71-9046-D880-A6D8-FAB26ED08A99}"/>
            </a:ext>
          </a:extLst>
        </p:cNvPr>
        <p:cNvGrpSpPr/>
        <p:nvPr/>
      </p:nvGrpSpPr>
      <p:grpSpPr>
        <a:xfrm>
          <a:off x="0" y="0"/>
          <a:ext cx="0" cy="0"/>
          <a:chOff x="0" y="0"/>
          <a:chExt cx="0" cy="0"/>
        </a:xfrm>
      </p:grpSpPr>
      <p:pic>
        <p:nvPicPr>
          <p:cNvPr id="74" name="Grafik 73">
            <a:extLst>
              <a:ext uri="{FF2B5EF4-FFF2-40B4-BE49-F238E27FC236}">
                <a16:creationId xmlns:a16="http://schemas.microsoft.com/office/drawing/2014/main" id="{FD4BF078-464E-6F8A-AEE4-16EF7EEE5647}"/>
              </a:ext>
            </a:extLst>
          </p:cNvPr>
          <p:cNvPicPr>
            <a:picLocks noChangeAspect="1"/>
          </p:cNvPicPr>
          <p:nvPr/>
        </p:nvPicPr>
        <p:blipFill>
          <a:blip r:embed="rId2">
            <a:extLst>
              <a:ext uri="{28A0092B-C50C-407E-A947-70E740481C1C}">
                <a14:useLocalDpi xmlns:a14="http://schemas.microsoft.com/office/drawing/2010/main" val="0"/>
              </a:ext>
            </a:extLst>
          </a:blip>
          <a:srcRect l="5704" r="5702" b="-2"/>
          <a:stretch>
            <a:fillRect/>
          </a:stretch>
        </p:blipFill>
        <p:spPr>
          <a:xfrm>
            <a:off x="20" y="10"/>
            <a:ext cx="4003019" cy="3388883"/>
          </a:xfrm>
          <a:prstGeom prst="rect">
            <a:avLst/>
          </a:prstGeom>
        </p:spPr>
      </p:pic>
      <p:pic>
        <p:nvPicPr>
          <p:cNvPr id="72" name="Grafik 71">
            <a:extLst>
              <a:ext uri="{FF2B5EF4-FFF2-40B4-BE49-F238E27FC236}">
                <a16:creationId xmlns:a16="http://schemas.microsoft.com/office/drawing/2014/main" id="{A156BC0D-9473-0016-B85C-6B42B3BCFB99}"/>
              </a:ext>
            </a:extLst>
          </p:cNvPr>
          <p:cNvPicPr>
            <a:picLocks noChangeAspect="1"/>
          </p:cNvPicPr>
          <p:nvPr/>
        </p:nvPicPr>
        <p:blipFill>
          <a:blip r:embed="rId3">
            <a:extLst>
              <a:ext uri="{28A0092B-C50C-407E-A947-70E740481C1C}">
                <a14:useLocalDpi xmlns:a14="http://schemas.microsoft.com/office/drawing/2010/main" val="0"/>
              </a:ext>
            </a:extLst>
          </a:blip>
          <a:srcRect t="23894" r="-1" b="12891"/>
          <a:stretch>
            <a:fillRect/>
          </a:stretch>
        </p:blipFill>
        <p:spPr>
          <a:xfrm>
            <a:off x="4094479" y="10"/>
            <a:ext cx="4014047" cy="3383270"/>
          </a:xfrm>
          <a:prstGeom prst="rect">
            <a:avLst/>
          </a:prstGeom>
        </p:spPr>
      </p:pic>
      <p:pic>
        <p:nvPicPr>
          <p:cNvPr id="39" name="Grafik 38">
            <a:extLst>
              <a:ext uri="{FF2B5EF4-FFF2-40B4-BE49-F238E27FC236}">
                <a16:creationId xmlns:a16="http://schemas.microsoft.com/office/drawing/2014/main" id="{47527A8A-D838-7DD0-CB0D-6B7D27106F6D}"/>
              </a:ext>
            </a:extLst>
          </p:cNvPr>
          <p:cNvPicPr>
            <a:picLocks noChangeAspect="1"/>
          </p:cNvPicPr>
          <p:nvPr/>
        </p:nvPicPr>
        <p:blipFill>
          <a:blip r:embed="rId4">
            <a:extLst>
              <a:ext uri="{28A0092B-C50C-407E-A947-70E740481C1C}">
                <a14:useLocalDpi xmlns:a14="http://schemas.microsoft.com/office/drawing/2010/main" val="0"/>
              </a:ext>
            </a:extLst>
          </a:blip>
          <a:srcRect l="1253" r="10011" b="4"/>
          <a:stretch>
            <a:fillRect/>
          </a:stretch>
        </p:blipFill>
        <p:spPr>
          <a:xfrm>
            <a:off x="8188960" y="10"/>
            <a:ext cx="4003039" cy="3383270"/>
          </a:xfrm>
          <a:prstGeom prst="rect">
            <a:avLst/>
          </a:prstGeom>
        </p:spPr>
      </p:pic>
      <p:pic>
        <p:nvPicPr>
          <p:cNvPr id="6" name="Grafik 5">
            <a:extLst>
              <a:ext uri="{FF2B5EF4-FFF2-40B4-BE49-F238E27FC236}">
                <a16:creationId xmlns:a16="http://schemas.microsoft.com/office/drawing/2014/main" id="{BC69C53A-5649-CACC-E0C5-7679F7576973}"/>
              </a:ext>
            </a:extLst>
          </p:cNvPr>
          <p:cNvPicPr>
            <a:picLocks noChangeAspect="1"/>
          </p:cNvPicPr>
          <p:nvPr/>
        </p:nvPicPr>
        <p:blipFill>
          <a:blip r:embed="rId5">
            <a:extLst>
              <a:ext uri="{28A0092B-C50C-407E-A947-70E740481C1C}">
                <a14:useLocalDpi xmlns:a14="http://schemas.microsoft.com/office/drawing/2010/main" val="0"/>
              </a:ext>
            </a:extLst>
          </a:blip>
          <a:srcRect r="-1" b="19786"/>
          <a:stretch>
            <a:fillRect/>
          </a:stretch>
        </p:blipFill>
        <p:spPr>
          <a:xfrm>
            <a:off x="20" y="3469102"/>
            <a:ext cx="4003019" cy="3388893"/>
          </a:xfrm>
          <a:prstGeom prst="rect">
            <a:avLst/>
          </a:prstGeom>
        </p:spPr>
      </p:pic>
      <p:pic>
        <p:nvPicPr>
          <p:cNvPr id="31" name="Grafik 30">
            <a:extLst>
              <a:ext uri="{FF2B5EF4-FFF2-40B4-BE49-F238E27FC236}">
                <a16:creationId xmlns:a16="http://schemas.microsoft.com/office/drawing/2014/main" id="{508A3799-878B-D683-CDD0-3811C4643BC6}"/>
              </a:ext>
            </a:extLst>
          </p:cNvPr>
          <p:cNvPicPr>
            <a:picLocks noChangeAspect="1"/>
          </p:cNvPicPr>
          <p:nvPr/>
        </p:nvPicPr>
        <p:blipFill>
          <a:blip r:embed="rId6">
            <a:extLst>
              <a:ext uri="{28A0092B-C50C-407E-A947-70E740481C1C}">
                <a14:useLocalDpi xmlns:a14="http://schemas.microsoft.com/office/drawing/2010/main" val="0"/>
              </a:ext>
            </a:extLst>
          </a:blip>
          <a:srcRect r="11020" b="4"/>
          <a:stretch>
            <a:fillRect/>
          </a:stretch>
        </p:blipFill>
        <p:spPr>
          <a:xfrm>
            <a:off x="4094479" y="3469102"/>
            <a:ext cx="4014047" cy="3383280"/>
          </a:xfrm>
          <a:prstGeom prst="rect">
            <a:avLst/>
          </a:prstGeom>
        </p:spPr>
      </p:pic>
      <p:pic>
        <p:nvPicPr>
          <p:cNvPr id="2" name="Grafik 1">
            <a:extLst>
              <a:ext uri="{FF2B5EF4-FFF2-40B4-BE49-F238E27FC236}">
                <a16:creationId xmlns:a16="http://schemas.microsoft.com/office/drawing/2014/main" id="{532F54F7-CFA1-C7FE-DFC2-23DBDB31F2EB}"/>
              </a:ext>
            </a:extLst>
          </p:cNvPr>
          <p:cNvPicPr>
            <a:picLocks noChangeAspect="1"/>
          </p:cNvPicPr>
          <p:nvPr/>
        </p:nvPicPr>
        <p:blipFill>
          <a:blip r:embed="rId7"/>
          <a:srcRect t="1697" r="2" b="34636"/>
          <a:stretch>
            <a:fillRect/>
          </a:stretch>
        </p:blipFill>
        <p:spPr>
          <a:xfrm>
            <a:off x="8199966" y="3426193"/>
            <a:ext cx="3992034" cy="3388893"/>
          </a:xfrm>
          <a:prstGeom prst="rect">
            <a:avLst/>
          </a:prstGeom>
        </p:spPr>
      </p:pic>
      <p:pic>
        <p:nvPicPr>
          <p:cNvPr id="20" name="Grafik 19">
            <a:extLst>
              <a:ext uri="{FF2B5EF4-FFF2-40B4-BE49-F238E27FC236}">
                <a16:creationId xmlns:a16="http://schemas.microsoft.com/office/drawing/2014/main" id="{4EF8DB89-9D78-A92B-699C-3740187B2B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391997" y="0"/>
            <a:ext cx="1800003" cy="1126417"/>
          </a:xfrm>
          <a:prstGeom prst="rect">
            <a:avLst/>
          </a:prstGeom>
        </p:spPr>
      </p:pic>
    </p:spTree>
    <p:extLst>
      <p:ext uri="{BB962C8B-B14F-4D97-AF65-F5344CB8AC3E}">
        <p14:creationId xmlns:p14="http://schemas.microsoft.com/office/powerpoint/2010/main" val="48653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Grafik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91997" y="0"/>
            <a:ext cx="1800003" cy="1126417"/>
          </a:xfrm>
          <a:prstGeom prst="rect">
            <a:avLst/>
          </a:prstGeom>
        </p:spPr>
      </p:pic>
      <p:sp>
        <p:nvSpPr>
          <p:cNvPr id="27" name="Was, wenn dein">
            <a:extLst>
              <a:ext uri="{FF2B5EF4-FFF2-40B4-BE49-F238E27FC236}">
                <a16:creationId xmlns:a16="http://schemas.microsoft.com/office/drawing/2014/main" id="{9377A4E2-F56D-46E8-BE72-ADFBCACE0EBF}"/>
              </a:ext>
            </a:extLst>
          </p:cNvPr>
          <p:cNvSpPr>
            <a:spLocks noGrp="1"/>
          </p:cNvSpPr>
          <p:nvPr/>
        </p:nvSpPr>
        <p:spPr>
          <a:xfrm>
            <a:off x="619125" y="1381125"/>
            <a:ext cx="6477000" cy="2286000"/>
          </a:xfrm>
          <a:prstGeom prst="rect">
            <a:avLst/>
          </a:prstGeom>
          <a:noFill/>
          <a:ln w="0">
            <a:noFill/>
          </a:ln>
        </p:spPr>
        <p:txBody>
          <a:bodyPr anchor="t">
            <a:noAutofit/>
          </a:bodyPr>
          <a:lstStyle/>
          <a:p>
            <a:pPr algn="l">
              <a:buNone/>
              <a:defRPr sz="3900" b="1">
                <a:solidFill>
                  <a:srgbClr val="000000"/>
                </a:solidFill>
                <a:latin typeface="Calibri"/>
                <a:ea typeface="Calibri"/>
                <a:cs typeface="Calibri"/>
              </a:defRPr>
            </a:pPr>
            <a:r>
              <a:rPr sz="3900" b="1">
                <a:solidFill>
                  <a:srgbClr val="000000"/>
                </a:solidFill>
                <a:latin typeface="Calibri"/>
                <a:ea typeface="Calibri"/>
                <a:cs typeface="Calibri"/>
              </a:rPr>
              <a:t>Was, wenn dein</a:t>
            </a:r>
          </a:p>
          <a:p>
            <a:pPr algn="l">
              <a:buNone/>
              <a:defRPr sz="3900" b="1">
                <a:solidFill>
                  <a:srgbClr val="000000"/>
                </a:solidFill>
                <a:latin typeface="Calibri"/>
                <a:ea typeface="Calibri"/>
                <a:cs typeface="Calibri"/>
              </a:defRPr>
            </a:pPr>
            <a:r>
              <a:rPr sz="3900" b="1">
                <a:solidFill>
                  <a:srgbClr val="000000"/>
                </a:solidFill>
                <a:latin typeface="Calibri"/>
                <a:ea typeface="Calibri"/>
                <a:cs typeface="Calibri"/>
              </a:rPr>
              <a:t>Wettbewerber morgen</a:t>
            </a:r>
          </a:p>
          <a:p>
            <a:pPr algn="l">
              <a:buNone/>
              <a:defRPr sz="3900" b="1">
                <a:solidFill>
                  <a:srgbClr val="000000"/>
                </a:solidFill>
                <a:latin typeface="Calibri"/>
                <a:ea typeface="Calibri"/>
                <a:cs typeface="Calibri"/>
              </a:defRPr>
            </a:pPr>
            <a:r>
              <a:rPr sz="3900" b="1">
                <a:solidFill>
                  <a:srgbClr val="000000"/>
                </a:solidFill>
                <a:latin typeface="Calibri"/>
                <a:ea typeface="Calibri"/>
                <a:cs typeface="Calibri"/>
              </a:rPr>
              <a:t>plötzlich …</a:t>
            </a:r>
          </a:p>
        </p:txBody>
      </p:sp>
      <p:sp>
        <p:nvSpPr>
          <p:cNvPr id="28" name="doppelt so schnell ist?">
            <a:extLst>
              <a:ext uri="{FF2B5EF4-FFF2-40B4-BE49-F238E27FC236}">
                <a16:creationId xmlns:a16="http://schemas.microsoft.com/office/drawing/2014/main" id="{C62420AA-DDBC-4CB6-8BD4-929B3CC4EC02}"/>
              </a:ext>
            </a:extLst>
          </p:cNvPr>
          <p:cNvSpPr>
            <a:spLocks noGrp="1"/>
          </p:cNvSpPr>
          <p:nvPr/>
        </p:nvSpPr>
        <p:spPr>
          <a:xfrm>
            <a:off x="619125" y="3857625"/>
            <a:ext cx="6477000" cy="809625"/>
          </a:xfrm>
          <a:prstGeom prst="rect">
            <a:avLst/>
          </a:prstGeom>
          <a:noFill/>
          <a:ln w="0">
            <a:noFill/>
          </a:ln>
        </p:spPr>
        <p:txBody>
          <a:bodyPr anchor="t">
            <a:noAutofit/>
          </a:bodyPr>
          <a:lstStyle/>
          <a:p>
            <a:pPr algn="l">
              <a:buNone/>
              <a:defRPr sz="3900" b="1">
                <a:solidFill>
                  <a:srgbClr val="E9496E"/>
                </a:solidFill>
                <a:latin typeface="Calibri"/>
                <a:ea typeface="Calibri"/>
                <a:cs typeface="Calibri"/>
              </a:defRPr>
            </a:pPr>
            <a:r>
              <a:rPr sz="3900" b="1">
                <a:solidFill>
                  <a:srgbClr val="E9496E"/>
                </a:solidFill>
                <a:latin typeface="Calibri"/>
                <a:ea typeface="Calibri"/>
                <a:cs typeface="Calibri"/>
              </a:rPr>
              <a:t>doppelt so schnell ist?</a:t>
            </a:r>
          </a:p>
        </p:txBody>
      </p:sp>
      <p:sp>
        <p:nvSpPr>
          <p:cNvPr id="29" name="KI ist der Elefant im Raum.">
            <a:extLst>
              <a:ext uri="{FF2B5EF4-FFF2-40B4-BE49-F238E27FC236}">
                <a16:creationId xmlns:a16="http://schemas.microsoft.com/office/drawing/2014/main" id="{3B248620-EA72-4784-AB34-D69649580BD2}"/>
              </a:ext>
            </a:extLst>
          </p:cNvPr>
          <p:cNvSpPr>
            <a:spLocks noGrp="1"/>
          </p:cNvSpPr>
          <p:nvPr/>
        </p:nvSpPr>
        <p:spPr>
          <a:xfrm>
            <a:off x="619125" y="5238750"/>
            <a:ext cx="6000750" cy="952500"/>
          </a:xfrm>
          <a:prstGeom prst="rect">
            <a:avLst/>
          </a:prstGeom>
          <a:noFill/>
          <a:ln w="0">
            <a:noFill/>
          </a:ln>
        </p:spPr>
        <p:txBody>
          <a:bodyPr anchor="t">
            <a:noAutofit/>
          </a:bodyPr>
          <a:lstStyle/>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KI ist der Elefant im Raum.</a:t>
            </a:r>
          </a:p>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Wie nutzen wir sie im Unternehmen?</a:t>
            </a:r>
          </a:p>
        </p:txBody>
      </p:sp>
      <p:pic>
        <p:nvPicPr>
          <p:cNvPr id="36" name="Grafik 35"/>
          <p:cNvPicPr>
            <a:picLocks noChangeAspect="1"/>
          </p:cNvPicPr>
          <p:nvPr/>
        </p:nvPicPr>
        <p:blipFill>
          <a:blip r:embed="rId4"/>
          <a:stretch/>
        </p:blipFill>
        <p:spPr>
          <a:xfrm>
            <a:off x="7143750" y="1619250"/>
            <a:ext cx="4810125" cy="4810125"/>
          </a:xfrm>
          <a:prstGeom prst="rect">
            <a:avLst/>
          </a:prstGeom>
        </p:spPr>
      </p:pic>
    </p:spTree>
    <p:extLst>
      <p:ext uri="{BB962C8B-B14F-4D97-AF65-F5344CB8AC3E}">
        <p14:creationId xmlns:p14="http://schemas.microsoft.com/office/powerpoint/2010/main" val="1418147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E60C6D-4E85-4E14-BCDF-BF15C241F7CA}"/>
              </a:ext>
            </a:extLst>
          </p:cNvPr>
          <p:cNvSpPr>
            <a:spLocks noGrp="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Freeform: Shape 15">
            <a:extLst>
              <a:ext uri="{FF2B5EF4-FFF2-40B4-BE49-F238E27FC236}">
                <a16:creationId xmlns:a16="http://schemas.microsoft.com/office/drawing/2014/main" id="{7D42D292-4C48-479B-9E59-E29CD9871C0C}"/>
              </a:ext>
            </a:extLst>
          </p:cNvPr>
          <p:cNvSpPr>
            <a:spLocks noGrp="1"/>
          </p:cNvSpPr>
          <p:nvPr/>
        </p:nvSpPr>
        <p:spPr>
          <a:xfrm flipH="1">
            <a:off x="-1" y="3993734"/>
            <a:ext cx="5581650" cy="2864266"/>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rgbClr val="41B6A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8" name="Arc 17">
            <a:extLst>
              <a:ext uri="{FF2B5EF4-FFF2-40B4-BE49-F238E27FC236}">
                <a16:creationId xmlns:a16="http://schemas.microsoft.com/office/drawing/2014/main" id="{533DF362-939D-4EEE-8DC4-6B54607E5611}"/>
              </a:ext>
            </a:extLst>
          </p:cNvPr>
          <p:cNvSpPr>
            <a:spLocks noGrp="1"/>
          </p:cNvSpPr>
          <p:nvPr/>
        </p:nvSpPr>
        <p:spPr>
          <a:xfrm rot="1095198">
            <a:off x="1539683" y="162676"/>
            <a:ext cx="4083433" cy="4083433"/>
          </a:xfrm>
          <a:prstGeom prst="arc">
            <a:avLst>
              <a:gd name="adj1" fmla="val 17445962"/>
              <a:gd name="adj2" fmla="val 0"/>
            </a:avLst>
          </a:prstGeom>
          <a:ln w="127000">
            <a:solidFill>
              <a:srgbClr val="41B6A3"/>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buNone/>
            </a:pPr>
            <a:endParaRPr/>
          </a:p>
        </p:txBody>
      </p:sp>
      <p:sp>
        <p:nvSpPr>
          <p:cNvPr id="9" name="Grafik 10">
            <a:extLst>
              <a:ext uri="{FF2B5EF4-FFF2-40B4-BE49-F238E27FC236}">
                <a16:creationId xmlns:a16="http://schemas.microsoft.com/office/drawing/2014/main" id="{21B0CE7D-22D5-FD81-EC6F-D876EA605AB1}"/>
              </a:ext>
            </a:extLst>
          </p:cNvPr>
          <p:cNvSpPr>
            <a:spLocks noGrp="1"/>
          </p:cNvSpPr>
          <p:nvPr/>
        </p:nvSpPr>
        <p:spPr>
          <a:xfrm>
            <a:off x="2166951" y="3473086"/>
            <a:ext cx="1683707" cy="1961410"/>
          </a:xfrm>
          <a:custGeom>
            <a:avLst/>
            <a:gdLst>
              <a:gd name="connsiteX0" fmla="*/ 916200 w 1683707"/>
              <a:gd name="connsiteY0" fmla="*/ 1961410 h 1961410"/>
              <a:gd name="connsiteX1" fmla="*/ 0 w 1683707"/>
              <a:gd name="connsiteY1" fmla="*/ 1961410 h 1961410"/>
              <a:gd name="connsiteX2" fmla="*/ 767508 w 1683707"/>
              <a:gd name="connsiteY2" fmla="*/ 980705 h 1961410"/>
              <a:gd name="connsiteX3" fmla="*/ 0 w 1683707"/>
              <a:gd name="connsiteY3" fmla="*/ 0 h 1961410"/>
              <a:gd name="connsiteX4" fmla="*/ 916200 w 1683707"/>
              <a:gd name="connsiteY4" fmla="*/ 0 h 1961410"/>
              <a:gd name="connsiteX5" fmla="*/ 1683708 w 1683707"/>
              <a:gd name="connsiteY5" fmla="*/ 980705 h 1961410"/>
              <a:gd name="connsiteX6" fmla="*/ 916200 w 1683707"/>
              <a:gd name="connsiteY6" fmla="*/ 1961410 h 1961410"/>
            </a:gdLst>
            <a:ahLst/>
            <a:cxnLst/>
            <a:rect l="l" t="t" r="r" b="b"/>
            <a:pathLst>
              <a:path w="1683707" h="1961410">
                <a:moveTo>
                  <a:pt x="916200" y="1961410"/>
                </a:moveTo>
                <a:lnTo>
                  <a:pt x="0" y="1961410"/>
                </a:lnTo>
                <a:lnTo>
                  <a:pt x="767508" y="980705"/>
                </a:lnTo>
                <a:lnTo>
                  <a:pt x="0" y="0"/>
                </a:lnTo>
                <a:lnTo>
                  <a:pt x="916200" y="0"/>
                </a:lnTo>
                <a:lnTo>
                  <a:pt x="1683708" y="980705"/>
                </a:lnTo>
                <a:lnTo>
                  <a:pt x="916200" y="1961410"/>
                </a:lnTo>
                <a:close/>
              </a:path>
            </a:pathLst>
          </a:custGeom>
          <a:solidFill>
            <a:srgbClr val="6C66AC"/>
          </a:solidFill>
          <a:ln w="54483">
            <a:noFill/>
            <a:prstDash val="solid"/>
          </a:ln>
        </p:spPr>
        <p:txBody>
          <a:bodyPr anchor="ctr"/>
          <a:lstStyle/>
          <a:p>
            <a:endParaRPr/>
          </a:p>
        </p:txBody>
      </p:sp>
      <p:sp>
        <p:nvSpPr>
          <p:cNvPr id="8" name="Grafik 2">
            <a:extLst>
              <a:ext uri="{FF2B5EF4-FFF2-40B4-BE49-F238E27FC236}">
                <a16:creationId xmlns:a16="http://schemas.microsoft.com/office/drawing/2014/main" id="{93FB8B2E-BFB5-5BC6-729A-5C3628818683}"/>
              </a:ext>
            </a:extLst>
          </p:cNvPr>
          <p:cNvSpPr>
            <a:spLocks noGrp="1"/>
          </p:cNvSpPr>
          <p:nvPr/>
        </p:nvSpPr>
        <p:spPr>
          <a:xfrm>
            <a:off x="5605515" y="3584917"/>
            <a:ext cx="1181790" cy="1376709"/>
          </a:xfrm>
          <a:custGeom>
            <a:avLst/>
            <a:gdLst>
              <a:gd name="connsiteX0" fmla="*/ 643078 w 1181790"/>
              <a:gd name="connsiteY0" fmla="*/ 1376709 h 1376709"/>
              <a:gd name="connsiteX1" fmla="*/ 0 w 1181790"/>
              <a:gd name="connsiteY1" fmla="*/ 1376709 h 1376709"/>
              <a:gd name="connsiteX2" fmla="*/ 538712 w 1181790"/>
              <a:gd name="connsiteY2" fmla="*/ 688355 h 1376709"/>
              <a:gd name="connsiteX3" fmla="*/ 0 w 1181790"/>
              <a:gd name="connsiteY3" fmla="*/ 0 h 1376709"/>
              <a:gd name="connsiteX4" fmla="*/ 643078 w 1181790"/>
              <a:gd name="connsiteY4" fmla="*/ 0 h 1376709"/>
              <a:gd name="connsiteX5" fmla="*/ 1181791 w 1181790"/>
              <a:gd name="connsiteY5" fmla="*/ 688355 h 1376709"/>
              <a:gd name="connsiteX6" fmla="*/ 643078 w 1181790"/>
              <a:gd name="connsiteY6" fmla="*/ 1376709 h 1376709"/>
            </a:gdLst>
            <a:ahLst/>
            <a:cxnLst/>
            <a:rect l="l" t="t" r="r" b="b"/>
            <a:pathLst>
              <a:path w="1181790" h="1376709">
                <a:moveTo>
                  <a:pt x="643078" y="1376709"/>
                </a:moveTo>
                <a:lnTo>
                  <a:pt x="0" y="1376709"/>
                </a:lnTo>
                <a:lnTo>
                  <a:pt x="538712" y="688355"/>
                </a:lnTo>
                <a:lnTo>
                  <a:pt x="0" y="0"/>
                </a:lnTo>
                <a:lnTo>
                  <a:pt x="643078" y="0"/>
                </a:lnTo>
                <a:lnTo>
                  <a:pt x="1181791" y="688355"/>
                </a:lnTo>
                <a:lnTo>
                  <a:pt x="643078" y="1376709"/>
                </a:lnTo>
                <a:close/>
              </a:path>
            </a:pathLst>
          </a:custGeom>
          <a:solidFill>
            <a:srgbClr val="6C66AC"/>
          </a:solidFill>
          <a:ln w="38291">
            <a:noFill/>
            <a:prstDash val="solid"/>
          </a:ln>
        </p:spPr>
        <p:txBody>
          <a:bodyPr anchor="ctr"/>
          <a:lstStyle/>
          <a:p>
            <a:endParaRPr/>
          </a:p>
        </p:txBody>
      </p:sp>
      <p:sp>
        <p:nvSpPr>
          <p:cNvPr id="7" name="Grafik 4">
            <a:extLst>
              <a:ext uri="{FF2B5EF4-FFF2-40B4-BE49-F238E27FC236}">
                <a16:creationId xmlns:a16="http://schemas.microsoft.com/office/drawing/2014/main" id="{D4C0921D-28F9-64DE-3702-6F750DBEA182}"/>
              </a:ext>
            </a:extLst>
          </p:cNvPr>
          <p:cNvSpPr>
            <a:spLocks noGrp="1"/>
          </p:cNvSpPr>
          <p:nvPr/>
        </p:nvSpPr>
        <p:spPr>
          <a:xfrm>
            <a:off x="6621063" y="1881961"/>
            <a:ext cx="553557" cy="644859"/>
          </a:xfrm>
          <a:custGeom>
            <a:avLst/>
            <a:gdLst>
              <a:gd name="connsiteX0" fmla="*/ 301222 w 553557"/>
              <a:gd name="connsiteY0" fmla="*/ 644859 h 644859"/>
              <a:gd name="connsiteX1" fmla="*/ 0 w 553557"/>
              <a:gd name="connsiteY1" fmla="*/ 644859 h 644859"/>
              <a:gd name="connsiteX2" fmla="*/ 252336 w 553557"/>
              <a:gd name="connsiteY2" fmla="*/ 322430 h 644859"/>
              <a:gd name="connsiteX3" fmla="*/ 0 w 553557"/>
              <a:gd name="connsiteY3" fmla="*/ 0 h 644859"/>
              <a:gd name="connsiteX4" fmla="*/ 301222 w 553557"/>
              <a:gd name="connsiteY4" fmla="*/ 0 h 644859"/>
              <a:gd name="connsiteX5" fmla="*/ 553558 w 553557"/>
              <a:gd name="connsiteY5" fmla="*/ 322430 h 644859"/>
              <a:gd name="connsiteX6" fmla="*/ 301222 w 553557"/>
              <a:gd name="connsiteY6" fmla="*/ 644859 h 644859"/>
            </a:gdLst>
            <a:ahLst/>
            <a:cxnLst/>
            <a:rect l="l" t="t" r="r" b="b"/>
            <a:pathLst>
              <a:path w="553557" h="644859">
                <a:moveTo>
                  <a:pt x="301222" y="644859"/>
                </a:moveTo>
                <a:lnTo>
                  <a:pt x="0" y="644859"/>
                </a:lnTo>
                <a:lnTo>
                  <a:pt x="252336" y="322430"/>
                </a:lnTo>
                <a:lnTo>
                  <a:pt x="0" y="0"/>
                </a:lnTo>
                <a:lnTo>
                  <a:pt x="301222" y="0"/>
                </a:lnTo>
                <a:lnTo>
                  <a:pt x="553558" y="322430"/>
                </a:lnTo>
                <a:lnTo>
                  <a:pt x="301222" y="644859"/>
                </a:lnTo>
                <a:close/>
              </a:path>
            </a:pathLst>
          </a:custGeom>
          <a:solidFill>
            <a:srgbClr val="6C66AC"/>
          </a:solidFill>
          <a:ln w="17907">
            <a:noFill/>
            <a:prstDash val="solid"/>
          </a:ln>
        </p:spPr>
        <p:txBody>
          <a:bodyPr anchor="ctr"/>
          <a:lstStyle/>
          <a:p>
            <a:endParaRPr/>
          </a:p>
        </p:txBody>
      </p:sp>
      <p:pic>
        <p:nvPicPr>
          <p:cNvPr id="37" name="Grafik 36"/>
          <p:cNvPicPr>
            <a:picLocks noChangeAspect="1"/>
          </p:cNvPicPr>
          <p:nvPr/>
        </p:nvPicPr>
        <p:blipFill>
          <a:blip r:embed="rId3"/>
          <a:stretch/>
        </p:blipFill>
        <p:spPr>
          <a:xfrm>
            <a:off x="10391974" y="0"/>
            <a:ext cx="1800018" cy="1126427"/>
          </a:xfrm>
          <a:prstGeom prst="rect">
            <a:avLst/>
          </a:prstGeom>
        </p:spPr>
      </p:pic>
      <p:sp>
        <p:nvSpPr>
          <p:cNvPr id="23" name="WIRTSCHAFT">
            <a:extLst>
              <a:ext uri="{FF2B5EF4-FFF2-40B4-BE49-F238E27FC236}">
                <a16:creationId xmlns:a16="http://schemas.microsoft.com/office/drawing/2014/main" id="{7D14D4E5-2DA2-4BEF-9AF8-A168539D32A5}"/>
              </a:ext>
            </a:extLst>
          </p:cNvPr>
          <p:cNvSpPr>
            <a:spLocks noGrp="1"/>
          </p:cNvSpPr>
          <p:nvPr/>
        </p:nvSpPr>
        <p:spPr>
          <a:xfrm>
            <a:off x="495300" y="1285875"/>
            <a:ext cx="4667250" cy="1666875"/>
          </a:xfrm>
          <a:prstGeom prst="rect">
            <a:avLst/>
          </a:prstGeom>
          <a:noFill/>
          <a:ln w="0">
            <a:noFill/>
          </a:ln>
        </p:spPr>
        <p:txBody>
          <a:bodyPr anchor="t">
            <a:noAutofit/>
          </a:bodyPr>
          <a:lstStyle/>
          <a:p>
            <a:pPr algn="l">
              <a:buNone/>
              <a:defRPr sz="3750" b="1">
                <a:solidFill>
                  <a:srgbClr val="6C66AC"/>
                </a:solidFill>
                <a:latin typeface="Calibri"/>
                <a:ea typeface="Calibri"/>
                <a:cs typeface="Calibri"/>
              </a:defRPr>
            </a:pPr>
            <a:r>
              <a:rPr sz="3750" b="1">
                <a:solidFill>
                  <a:srgbClr val="6C66AC"/>
                </a:solidFill>
                <a:latin typeface="Calibri"/>
                <a:ea typeface="Calibri"/>
                <a:cs typeface="Calibri"/>
              </a:rPr>
              <a:t>WIRTSCHAFT</a:t>
            </a:r>
          </a:p>
          <a:p>
            <a:pPr algn="l">
              <a:buNone/>
              <a:defRPr sz="3750" b="1">
                <a:solidFill>
                  <a:srgbClr val="6C66AC"/>
                </a:solidFill>
                <a:latin typeface="Calibri"/>
                <a:ea typeface="Calibri"/>
                <a:cs typeface="Calibri"/>
              </a:defRPr>
            </a:pPr>
            <a:r>
              <a:rPr sz="3750" b="1">
                <a:solidFill>
                  <a:srgbClr val="6C66AC"/>
                </a:solidFill>
                <a:latin typeface="Calibri"/>
                <a:ea typeface="Calibri"/>
                <a:cs typeface="Calibri"/>
              </a:rPr>
              <a:t>IM WANDEL</a:t>
            </a:r>
          </a:p>
        </p:txBody>
      </p:sp>
      <p:sp>
        <p:nvSpPr>
          <p:cNvPr id="24" name="Industrie unter Druck">
            <a:extLst>
              <a:ext uri="{FF2B5EF4-FFF2-40B4-BE49-F238E27FC236}">
                <a16:creationId xmlns:a16="http://schemas.microsoft.com/office/drawing/2014/main" id="{A46D70CD-A5E0-4F1E-B173-108BD1076767}"/>
              </a:ext>
            </a:extLst>
          </p:cNvPr>
          <p:cNvSpPr>
            <a:spLocks noGrp="1"/>
          </p:cNvSpPr>
          <p:nvPr/>
        </p:nvSpPr>
        <p:spPr>
          <a:xfrm>
            <a:off x="7524750" y="1476375"/>
            <a:ext cx="4429125" cy="552450"/>
          </a:xfrm>
          <a:prstGeom prst="rect">
            <a:avLst/>
          </a:prstGeom>
          <a:noFill/>
          <a:ln w="0">
            <a:noFill/>
          </a:ln>
        </p:spPr>
        <p:txBody>
          <a:bodyPr anchor="t">
            <a:noAutofit/>
          </a:bodyPr>
          <a:lstStyle/>
          <a:p>
            <a:pPr algn="l">
              <a:buNone/>
              <a:defRPr sz="2700" b="1">
                <a:solidFill>
                  <a:srgbClr val="6C66AC"/>
                </a:solidFill>
                <a:latin typeface="Calibri"/>
                <a:ea typeface="Calibri"/>
                <a:cs typeface="Calibri"/>
              </a:defRPr>
            </a:pPr>
            <a:r>
              <a:rPr sz="2700" b="1">
                <a:solidFill>
                  <a:srgbClr val="6C66AC"/>
                </a:solidFill>
                <a:latin typeface="Calibri"/>
                <a:ea typeface="Calibri"/>
                <a:cs typeface="Calibri"/>
              </a:rPr>
              <a:t>Industrie unter Druck</a:t>
            </a:r>
          </a:p>
        </p:txBody>
      </p:sp>
      <p:sp>
        <p:nvSpPr>
          <p:cNvPr id="25" name="Geschäftsmodelle stoßen">
            <a:extLst>
              <a:ext uri="{FF2B5EF4-FFF2-40B4-BE49-F238E27FC236}">
                <a16:creationId xmlns:a16="http://schemas.microsoft.com/office/drawing/2014/main" id="{A153AB54-2205-4F1A-91F2-CF71ACB43798}"/>
              </a:ext>
            </a:extLst>
          </p:cNvPr>
          <p:cNvSpPr>
            <a:spLocks noGrp="1"/>
          </p:cNvSpPr>
          <p:nvPr/>
        </p:nvSpPr>
        <p:spPr>
          <a:xfrm>
            <a:off x="7524750" y="2076450"/>
            <a:ext cx="4429125" cy="1333500"/>
          </a:xfrm>
          <a:prstGeom prst="rect">
            <a:avLst/>
          </a:prstGeom>
          <a:noFill/>
          <a:ln w="0">
            <a:noFill/>
          </a:ln>
        </p:spPr>
        <p:txBody>
          <a:bodyPr anchor="t">
            <a:noAutofit/>
          </a:bodyPr>
          <a:lstStyle/>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Geschäftsmodelle stoßen</a:t>
            </a:r>
          </a:p>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an Grenzen. Ursachen liegen</a:t>
            </a:r>
          </a:p>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im Inland und weltweit.</a:t>
            </a:r>
          </a:p>
        </p:txBody>
      </p:sp>
      <p:sp>
        <p:nvSpPr>
          <p:cNvPr id="26" name="124.100">
            <a:extLst>
              <a:ext uri="{FF2B5EF4-FFF2-40B4-BE49-F238E27FC236}">
                <a16:creationId xmlns:a16="http://schemas.microsoft.com/office/drawing/2014/main" id="{A280EEB0-70D7-451D-9D08-74462123C94A}"/>
              </a:ext>
            </a:extLst>
          </p:cNvPr>
          <p:cNvSpPr>
            <a:spLocks noGrp="1"/>
          </p:cNvSpPr>
          <p:nvPr/>
        </p:nvSpPr>
        <p:spPr>
          <a:xfrm>
            <a:off x="7524750" y="3476625"/>
            <a:ext cx="4429125" cy="857250"/>
          </a:xfrm>
          <a:prstGeom prst="rect">
            <a:avLst/>
          </a:prstGeom>
          <a:noFill/>
          <a:ln w="0">
            <a:noFill/>
          </a:ln>
        </p:spPr>
        <p:txBody>
          <a:bodyPr anchor="t">
            <a:noAutofit/>
          </a:bodyPr>
          <a:lstStyle/>
          <a:p>
            <a:pPr algn="l">
              <a:buNone/>
              <a:defRPr sz="4500" b="1">
                <a:solidFill>
                  <a:srgbClr val="E9496E"/>
                </a:solidFill>
                <a:latin typeface="Calibri"/>
                <a:ea typeface="Calibri"/>
                <a:cs typeface="Calibri"/>
              </a:defRPr>
            </a:pPr>
            <a:r>
              <a:rPr sz="4500" b="1">
                <a:solidFill>
                  <a:srgbClr val="E9496E"/>
                </a:solidFill>
                <a:latin typeface="Calibri"/>
                <a:ea typeface="Calibri"/>
                <a:cs typeface="Calibri"/>
              </a:rPr>
              <a:t>124.100</a:t>
            </a:r>
          </a:p>
        </p:txBody>
      </p:sp>
      <p:sp>
        <p:nvSpPr>
          <p:cNvPr id="27" name="weniger Beschäftigte 2025">
            <a:extLst>
              <a:ext uri="{FF2B5EF4-FFF2-40B4-BE49-F238E27FC236}">
                <a16:creationId xmlns:a16="http://schemas.microsoft.com/office/drawing/2014/main" id="{67BB7966-7417-482F-8CD4-39B578A87CCF}"/>
              </a:ext>
            </a:extLst>
          </p:cNvPr>
          <p:cNvSpPr>
            <a:spLocks noGrp="1"/>
          </p:cNvSpPr>
          <p:nvPr/>
        </p:nvSpPr>
        <p:spPr>
          <a:xfrm>
            <a:off x="7524750" y="4352925"/>
            <a:ext cx="4429125" cy="857250"/>
          </a:xfrm>
          <a:prstGeom prst="rect">
            <a:avLst/>
          </a:prstGeom>
          <a:noFill/>
          <a:ln w="0">
            <a:noFill/>
          </a:ln>
        </p:spPr>
        <p:txBody>
          <a:bodyPr anchor="t">
            <a:noAutofit/>
          </a:bodyPr>
          <a:lstStyle/>
          <a:p>
            <a:pPr algn="l">
              <a:buNone/>
              <a:defRPr sz="2100" b="0">
                <a:solidFill>
                  <a:srgbClr val="000000"/>
                </a:solidFill>
                <a:latin typeface="Calibri"/>
                <a:ea typeface="Calibri"/>
                <a:cs typeface="Calibri"/>
              </a:defRPr>
            </a:pPr>
            <a:r>
              <a:rPr sz="2100" b="0">
                <a:solidFill>
                  <a:srgbClr val="000000"/>
                </a:solidFill>
                <a:latin typeface="Calibri"/>
                <a:ea typeface="Calibri"/>
                <a:cs typeface="Calibri"/>
              </a:rPr>
              <a:t>weniger Beschäftigte 2025</a:t>
            </a:r>
          </a:p>
          <a:p>
            <a:pPr algn="l">
              <a:buNone/>
              <a:defRPr sz="2100" b="0">
                <a:solidFill>
                  <a:srgbClr val="000000"/>
                </a:solidFill>
                <a:latin typeface="Calibri"/>
                <a:ea typeface="Calibri"/>
                <a:cs typeface="Calibri"/>
              </a:defRPr>
            </a:pPr>
            <a:r>
              <a:rPr sz="2100" b="0">
                <a:solidFill>
                  <a:srgbClr val="000000"/>
                </a:solidFill>
                <a:latin typeface="Calibri"/>
                <a:ea typeface="Calibri"/>
                <a:cs typeface="Calibri"/>
              </a:rPr>
              <a:t>in der deutschen Industrie*</a:t>
            </a:r>
          </a:p>
        </p:txBody>
      </p:sp>
      <p:sp>
        <p:nvSpPr>
          <p:cNvPr id="28" name="Transformation braucht">
            <a:extLst>
              <a:ext uri="{FF2B5EF4-FFF2-40B4-BE49-F238E27FC236}">
                <a16:creationId xmlns:a16="http://schemas.microsoft.com/office/drawing/2014/main" id="{2437030A-20CD-4A4C-98B0-EA419116495E}"/>
              </a:ext>
            </a:extLst>
          </p:cNvPr>
          <p:cNvSpPr>
            <a:spLocks noGrp="1"/>
          </p:cNvSpPr>
          <p:nvPr/>
        </p:nvSpPr>
        <p:spPr>
          <a:xfrm>
            <a:off x="7524750" y="5381625"/>
            <a:ext cx="4429125" cy="857250"/>
          </a:xfrm>
          <a:prstGeom prst="rect">
            <a:avLst/>
          </a:prstGeom>
          <a:noFill/>
          <a:ln w="0">
            <a:noFill/>
          </a:ln>
        </p:spPr>
        <p:txBody>
          <a:bodyPr anchor="t">
            <a:noAutofit/>
          </a:bodyPr>
          <a:lstStyle/>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Transformation braucht</a:t>
            </a:r>
          </a:p>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Impulse von der Führung.</a:t>
            </a:r>
          </a:p>
        </p:txBody>
      </p:sp>
      <p:sp>
        <p:nvSpPr>
          <p:cNvPr id="29" name="*Quelle: EY-Industriebarometer Q4 2025, 17.02.2026">
            <a:extLst>
              <a:ext uri="{FF2B5EF4-FFF2-40B4-BE49-F238E27FC236}">
                <a16:creationId xmlns:a16="http://schemas.microsoft.com/office/drawing/2014/main" id="{680AC93A-2111-4A02-A5C8-BB593284A7D3}"/>
              </a:ext>
            </a:extLst>
          </p:cNvPr>
          <p:cNvSpPr>
            <a:spLocks noGrp="1"/>
          </p:cNvSpPr>
          <p:nvPr/>
        </p:nvSpPr>
        <p:spPr>
          <a:xfrm>
            <a:off x="6238875" y="6419850"/>
            <a:ext cx="5715000" cy="295275"/>
          </a:xfrm>
          <a:prstGeom prst="rect">
            <a:avLst/>
          </a:prstGeom>
          <a:noFill/>
          <a:ln w="0">
            <a:noFill/>
          </a:ln>
        </p:spPr>
        <p:txBody>
          <a:bodyPr anchor="t">
            <a:noAutofit/>
          </a:bodyPr>
          <a:lstStyle/>
          <a:p>
            <a:pPr algn="l">
              <a:buNone/>
              <a:defRPr sz="1425" b="0">
                <a:solidFill>
                  <a:srgbClr val="000000"/>
                </a:solidFill>
                <a:latin typeface="Calibri"/>
                <a:ea typeface="Calibri"/>
                <a:cs typeface="Calibri"/>
              </a:defRPr>
            </a:pPr>
            <a:r>
              <a:rPr sz="1425" b="0">
                <a:solidFill>
                  <a:srgbClr val="000000"/>
                </a:solidFill>
                <a:latin typeface="Calibri"/>
                <a:ea typeface="Calibri"/>
                <a:cs typeface="Calibri"/>
              </a:rPr>
              <a:t>*Quelle: EY-Industriebarometer Q4 2025, 17.02.2026</a:t>
            </a:r>
          </a:p>
        </p:txBody>
      </p:sp>
    </p:spTree>
    <p:extLst>
      <p:ext uri="{BB962C8B-B14F-4D97-AF65-F5344CB8AC3E}">
        <p14:creationId xmlns:p14="http://schemas.microsoft.com/office/powerpoint/2010/main" val="2248479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E60C6D-4E85-4E14-BCDF-BF15C241F7CA}"/>
              </a:ext>
            </a:extLst>
          </p:cNvPr>
          <p:cNvSpPr>
            <a:spLocks noGrp="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Freeform: Shape 15">
            <a:extLst>
              <a:ext uri="{FF2B5EF4-FFF2-40B4-BE49-F238E27FC236}">
                <a16:creationId xmlns:a16="http://schemas.microsoft.com/office/drawing/2014/main" id="{7D42D292-4C48-479B-9E59-E29CD9871C0C}"/>
              </a:ext>
            </a:extLst>
          </p:cNvPr>
          <p:cNvSpPr>
            <a:spLocks noGrp="1"/>
          </p:cNvSpPr>
          <p:nvPr/>
        </p:nvSpPr>
        <p:spPr>
          <a:xfrm flipH="1">
            <a:off x="-1" y="3993734"/>
            <a:ext cx="5581650" cy="2864266"/>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rgbClr val="F6CD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8" name="Arc 17">
            <a:extLst>
              <a:ext uri="{FF2B5EF4-FFF2-40B4-BE49-F238E27FC236}">
                <a16:creationId xmlns:a16="http://schemas.microsoft.com/office/drawing/2014/main" id="{533DF362-939D-4EEE-8DC4-6B54607E5611}"/>
              </a:ext>
            </a:extLst>
          </p:cNvPr>
          <p:cNvSpPr>
            <a:spLocks noGrp="1"/>
          </p:cNvSpPr>
          <p:nvPr/>
        </p:nvSpPr>
        <p:spPr>
          <a:xfrm rot="1095198">
            <a:off x="1539683" y="162676"/>
            <a:ext cx="4083433" cy="4083433"/>
          </a:xfrm>
          <a:prstGeom prst="arc">
            <a:avLst>
              <a:gd name="adj1" fmla="val 17445962"/>
              <a:gd name="adj2" fmla="val 0"/>
            </a:avLst>
          </a:prstGeom>
          <a:ln w="127000">
            <a:solidFill>
              <a:srgbClr val="F6CD00"/>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buNone/>
            </a:pPr>
            <a:endParaRPr/>
          </a:p>
        </p:txBody>
      </p:sp>
      <p:sp>
        <p:nvSpPr>
          <p:cNvPr id="9" name="Grafik 18">
            <a:extLst>
              <a:ext uri="{FF2B5EF4-FFF2-40B4-BE49-F238E27FC236}">
                <a16:creationId xmlns:a16="http://schemas.microsoft.com/office/drawing/2014/main" id="{CD0E14D7-C982-1AC1-8B05-D58C501F083D}"/>
              </a:ext>
            </a:extLst>
          </p:cNvPr>
          <p:cNvSpPr>
            <a:spLocks noGrp="1"/>
          </p:cNvSpPr>
          <p:nvPr/>
        </p:nvSpPr>
        <p:spPr>
          <a:xfrm>
            <a:off x="2929764" y="3330535"/>
            <a:ext cx="1692493" cy="1971644"/>
          </a:xfrm>
          <a:custGeom>
            <a:avLst/>
            <a:gdLst>
              <a:gd name="connsiteX0" fmla="*/ 920980 w 1692493"/>
              <a:gd name="connsiteY0" fmla="*/ 1971645 h 1971644"/>
              <a:gd name="connsiteX1" fmla="*/ 0 w 1692493"/>
              <a:gd name="connsiteY1" fmla="*/ 1971645 h 1971644"/>
              <a:gd name="connsiteX2" fmla="*/ 771513 w 1692493"/>
              <a:gd name="connsiteY2" fmla="*/ 985822 h 1971644"/>
              <a:gd name="connsiteX3" fmla="*/ 0 w 1692493"/>
              <a:gd name="connsiteY3" fmla="*/ 0 h 1971644"/>
              <a:gd name="connsiteX4" fmla="*/ 920980 w 1692493"/>
              <a:gd name="connsiteY4" fmla="*/ 0 h 1971644"/>
              <a:gd name="connsiteX5" fmla="*/ 1692493 w 1692493"/>
              <a:gd name="connsiteY5" fmla="*/ 985822 h 1971644"/>
              <a:gd name="connsiteX6" fmla="*/ 920980 w 1692493"/>
              <a:gd name="connsiteY6" fmla="*/ 1971645 h 1971644"/>
            </a:gdLst>
            <a:ahLst/>
            <a:cxnLst/>
            <a:rect l="l" t="t" r="r" b="b"/>
            <a:pathLst>
              <a:path w="1692493" h="1971644">
                <a:moveTo>
                  <a:pt x="920980" y="1971645"/>
                </a:moveTo>
                <a:lnTo>
                  <a:pt x="0" y="1971645"/>
                </a:lnTo>
                <a:lnTo>
                  <a:pt x="771513" y="985822"/>
                </a:lnTo>
                <a:lnTo>
                  <a:pt x="0" y="0"/>
                </a:lnTo>
                <a:lnTo>
                  <a:pt x="920980" y="0"/>
                </a:lnTo>
                <a:lnTo>
                  <a:pt x="1692493" y="985822"/>
                </a:lnTo>
                <a:lnTo>
                  <a:pt x="920980" y="1971645"/>
                </a:lnTo>
                <a:close/>
              </a:path>
            </a:pathLst>
          </a:custGeom>
          <a:solidFill>
            <a:srgbClr val="E9496E"/>
          </a:solidFill>
          <a:ln w="54864">
            <a:noFill/>
            <a:prstDash val="solid"/>
          </a:ln>
        </p:spPr>
        <p:txBody>
          <a:bodyPr anchor="ctr"/>
          <a:lstStyle/>
          <a:p>
            <a:endParaRPr/>
          </a:p>
        </p:txBody>
      </p:sp>
      <p:sp>
        <p:nvSpPr>
          <p:cNvPr id="10" name="Grafik 18">
            <a:extLst>
              <a:ext uri="{FF2B5EF4-FFF2-40B4-BE49-F238E27FC236}">
                <a16:creationId xmlns:a16="http://schemas.microsoft.com/office/drawing/2014/main" id="{8888A030-4C63-4373-A848-2C32780668F8}"/>
              </a:ext>
            </a:extLst>
          </p:cNvPr>
          <p:cNvSpPr>
            <a:spLocks noGrp="1"/>
          </p:cNvSpPr>
          <p:nvPr/>
        </p:nvSpPr>
        <p:spPr>
          <a:xfrm>
            <a:off x="5157477" y="3825246"/>
            <a:ext cx="843156" cy="982222"/>
          </a:xfrm>
          <a:custGeom>
            <a:avLst/>
            <a:gdLst>
              <a:gd name="connsiteX0" fmla="*/ 920980 w 1692493"/>
              <a:gd name="connsiteY0" fmla="*/ 1971645 h 1971644"/>
              <a:gd name="connsiteX1" fmla="*/ 0 w 1692493"/>
              <a:gd name="connsiteY1" fmla="*/ 1971645 h 1971644"/>
              <a:gd name="connsiteX2" fmla="*/ 771513 w 1692493"/>
              <a:gd name="connsiteY2" fmla="*/ 985822 h 1971644"/>
              <a:gd name="connsiteX3" fmla="*/ 0 w 1692493"/>
              <a:gd name="connsiteY3" fmla="*/ 0 h 1971644"/>
              <a:gd name="connsiteX4" fmla="*/ 920980 w 1692493"/>
              <a:gd name="connsiteY4" fmla="*/ 0 h 1971644"/>
              <a:gd name="connsiteX5" fmla="*/ 1692493 w 1692493"/>
              <a:gd name="connsiteY5" fmla="*/ 985822 h 1971644"/>
              <a:gd name="connsiteX6" fmla="*/ 920980 w 1692493"/>
              <a:gd name="connsiteY6" fmla="*/ 1971645 h 1971644"/>
            </a:gdLst>
            <a:ahLst/>
            <a:cxnLst/>
            <a:rect l="l" t="t" r="r" b="b"/>
            <a:pathLst>
              <a:path w="1692493" h="1971644">
                <a:moveTo>
                  <a:pt x="920980" y="1971645"/>
                </a:moveTo>
                <a:lnTo>
                  <a:pt x="0" y="1971645"/>
                </a:lnTo>
                <a:lnTo>
                  <a:pt x="771513" y="985822"/>
                </a:lnTo>
                <a:lnTo>
                  <a:pt x="0" y="0"/>
                </a:lnTo>
                <a:lnTo>
                  <a:pt x="920980" y="0"/>
                </a:lnTo>
                <a:lnTo>
                  <a:pt x="1692493" y="985822"/>
                </a:lnTo>
                <a:lnTo>
                  <a:pt x="920980" y="1971645"/>
                </a:lnTo>
                <a:close/>
              </a:path>
            </a:pathLst>
          </a:custGeom>
          <a:solidFill>
            <a:srgbClr val="E9496E"/>
          </a:solidFill>
          <a:ln w="54864">
            <a:noFill/>
            <a:prstDash val="solid"/>
          </a:ln>
        </p:spPr>
        <p:txBody>
          <a:bodyPr anchor="ctr"/>
          <a:lstStyle/>
          <a:p>
            <a:endParaRPr/>
          </a:p>
        </p:txBody>
      </p:sp>
      <p:pic>
        <p:nvPicPr>
          <p:cNvPr id="39" name="Grafik 38"/>
          <p:cNvPicPr>
            <a:picLocks noChangeAspect="1"/>
          </p:cNvPicPr>
          <p:nvPr/>
        </p:nvPicPr>
        <p:blipFill>
          <a:blip r:embed="rId3"/>
          <a:stretch/>
        </p:blipFill>
        <p:spPr>
          <a:xfrm>
            <a:off x="10391974" y="0"/>
            <a:ext cx="1800018" cy="1126427"/>
          </a:xfrm>
          <a:prstGeom prst="rect">
            <a:avLst/>
          </a:prstGeom>
        </p:spPr>
      </p:pic>
      <p:sp>
        <p:nvSpPr>
          <p:cNvPr id="27" name="KI-STANDORT">
            <a:extLst>
              <a:ext uri="{FF2B5EF4-FFF2-40B4-BE49-F238E27FC236}">
                <a16:creationId xmlns:a16="http://schemas.microsoft.com/office/drawing/2014/main" id="{02290E9B-8EB8-459A-A47A-EC1168CFA463}"/>
              </a:ext>
            </a:extLst>
          </p:cNvPr>
          <p:cNvSpPr>
            <a:spLocks noGrp="1"/>
          </p:cNvSpPr>
          <p:nvPr/>
        </p:nvSpPr>
        <p:spPr>
          <a:xfrm>
            <a:off x="619125" y="1238250"/>
            <a:ext cx="4476750" cy="1571625"/>
          </a:xfrm>
          <a:prstGeom prst="rect">
            <a:avLst/>
          </a:prstGeom>
          <a:noFill/>
          <a:ln w="0">
            <a:noFill/>
          </a:ln>
        </p:spPr>
        <p:txBody>
          <a:bodyPr anchor="t">
            <a:noAutofit/>
          </a:bodyPr>
          <a:lstStyle/>
          <a:p>
            <a:pPr algn="l">
              <a:buNone/>
              <a:defRPr sz="3450" b="1">
                <a:solidFill>
                  <a:srgbClr val="E9496E"/>
                </a:solidFill>
                <a:latin typeface="Calibri"/>
                <a:ea typeface="Calibri"/>
                <a:cs typeface="Calibri"/>
              </a:defRPr>
            </a:pPr>
            <a:r>
              <a:rPr sz="3450" b="1">
                <a:solidFill>
                  <a:srgbClr val="E9496E"/>
                </a:solidFill>
                <a:latin typeface="Calibri"/>
                <a:ea typeface="Calibri"/>
                <a:cs typeface="Calibri"/>
              </a:rPr>
              <a:t>KI-STANDORT</a:t>
            </a:r>
          </a:p>
          <a:p>
            <a:pPr algn="l">
              <a:buNone/>
              <a:defRPr sz="3450" b="1">
                <a:solidFill>
                  <a:srgbClr val="E9496E"/>
                </a:solidFill>
                <a:latin typeface="Calibri"/>
                <a:ea typeface="Calibri"/>
                <a:cs typeface="Calibri"/>
              </a:defRPr>
            </a:pPr>
            <a:r>
              <a:rPr sz="3450" b="1">
                <a:solidFill>
                  <a:srgbClr val="E9496E"/>
                </a:solidFill>
                <a:latin typeface="Calibri"/>
                <a:ea typeface="Calibri"/>
                <a:cs typeface="Calibri"/>
              </a:rPr>
              <a:t>DEUTSCHLAND</a:t>
            </a:r>
          </a:p>
        </p:txBody>
      </p:sp>
      <p:sp>
        <p:nvSpPr>
          <p:cNvPr id="28" name="Aufholbedarf bei Sprachmodellen">
            <a:extLst>
              <a:ext uri="{FF2B5EF4-FFF2-40B4-BE49-F238E27FC236}">
                <a16:creationId xmlns:a16="http://schemas.microsoft.com/office/drawing/2014/main" id="{25F11362-896A-4385-B3D3-2ED550C47813}"/>
              </a:ext>
            </a:extLst>
          </p:cNvPr>
          <p:cNvSpPr>
            <a:spLocks noGrp="1"/>
          </p:cNvSpPr>
          <p:nvPr/>
        </p:nvSpPr>
        <p:spPr>
          <a:xfrm>
            <a:off x="6381750" y="1266825"/>
            <a:ext cx="5572125" cy="523875"/>
          </a:xfrm>
          <a:prstGeom prst="rect">
            <a:avLst/>
          </a:prstGeom>
          <a:noFill/>
          <a:ln w="0">
            <a:noFill/>
          </a:ln>
        </p:spPr>
        <p:txBody>
          <a:bodyPr anchor="t">
            <a:noAutofit/>
          </a:bodyPr>
          <a:lstStyle/>
          <a:p>
            <a:pPr algn="l">
              <a:buNone/>
              <a:defRPr sz="2475" b="1">
                <a:solidFill>
                  <a:srgbClr val="6C66AC"/>
                </a:solidFill>
                <a:latin typeface="Calibri"/>
                <a:ea typeface="Calibri"/>
                <a:cs typeface="Calibri"/>
              </a:defRPr>
            </a:pPr>
            <a:r>
              <a:rPr sz="2475" b="1">
                <a:solidFill>
                  <a:srgbClr val="6C66AC"/>
                </a:solidFill>
                <a:latin typeface="Calibri"/>
                <a:ea typeface="Calibri"/>
                <a:cs typeface="Calibri"/>
              </a:rPr>
              <a:t>Aufholbedarf bei Sprachmodellen</a:t>
            </a:r>
          </a:p>
        </p:txBody>
      </p:sp>
      <p:sp>
        <p:nvSpPr>
          <p:cNvPr id="29" name="Chance: industrielle KI">
            <a:extLst>
              <a:ext uri="{FF2B5EF4-FFF2-40B4-BE49-F238E27FC236}">
                <a16:creationId xmlns:a16="http://schemas.microsoft.com/office/drawing/2014/main" id="{C61B44E0-29D3-4BCE-9401-FAFBC49C18DA}"/>
              </a:ext>
            </a:extLst>
          </p:cNvPr>
          <p:cNvSpPr>
            <a:spLocks noGrp="1"/>
          </p:cNvSpPr>
          <p:nvPr/>
        </p:nvSpPr>
        <p:spPr>
          <a:xfrm>
            <a:off x="6381750" y="2114550"/>
            <a:ext cx="5572125" cy="495300"/>
          </a:xfrm>
          <a:prstGeom prst="rect">
            <a:avLst/>
          </a:prstGeom>
          <a:noFill/>
          <a:ln w="0">
            <a:noFill/>
          </a:ln>
        </p:spPr>
        <p:txBody>
          <a:bodyPr anchor="t">
            <a:noAutofit/>
          </a:bodyPr>
          <a:lstStyle/>
          <a:p>
            <a:pPr algn="l">
              <a:buNone/>
              <a:defRPr sz="2550" b="1">
                <a:solidFill>
                  <a:srgbClr val="00AB97"/>
                </a:solidFill>
                <a:latin typeface="Calibri"/>
                <a:ea typeface="Calibri"/>
                <a:cs typeface="Calibri"/>
              </a:defRPr>
            </a:pPr>
            <a:r>
              <a:rPr sz="2550" b="1">
                <a:solidFill>
                  <a:srgbClr val="00AB97"/>
                </a:solidFill>
                <a:latin typeface="Calibri"/>
                <a:ea typeface="Calibri"/>
                <a:cs typeface="Calibri"/>
              </a:rPr>
              <a:t>Chance: industrielle KI</a:t>
            </a:r>
          </a:p>
        </p:txBody>
      </p:sp>
      <p:sp>
        <p:nvSpPr>
          <p:cNvPr id="30" name="Know-how, Datenbasis und Forschung">
            <a:extLst>
              <a:ext uri="{FF2B5EF4-FFF2-40B4-BE49-F238E27FC236}">
                <a16:creationId xmlns:a16="http://schemas.microsoft.com/office/drawing/2014/main" id="{458EB758-A681-4C59-B0AB-38994CB1F8DA}"/>
              </a:ext>
            </a:extLst>
          </p:cNvPr>
          <p:cNvSpPr>
            <a:spLocks noGrp="1"/>
          </p:cNvSpPr>
          <p:nvPr/>
        </p:nvSpPr>
        <p:spPr>
          <a:xfrm>
            <a:off x="6381750" y="2667000"/>
            <a:ext cx="5572125" cy="476250"/>
          </a:xfrm>
          <a:prstGeom prst="rect">
            <a:avLst/>
          </a:prstGeom>
          <a:noFill/>
          <a:ln w="0">
            <a:noFill/>
          </a:ln>
        </p:spPr>
        <p:txBody>
          <a:bodyPr anchor="t">
            <a:noAutofit/>
          </a:bodyPr>
          <a:lstStyle/>
          <a:p>
            <a:pPr algn="l">
              <a:buNone/>
              <a:defRPr sz="2100" b="0">
                <a:solidFill>
                  <a:srgbClr val="000000"/>
                </a:solidFill>
                <a:latin typeface="Calibri"/>
                <a:ea typeface="Calibri"/>
                <a:cs typeface="Calibri"/>
              </a:defRPr>
            </a:pPr>
            <a:r>
              <a:rPr sz="2100" b="0">
                <a:solidFill>
                  <a:srgbClr val="000000"/>
                </a:solidFill>
                <a:latin typeface="Calibri"/>
                <a:ea typeface="Calibri"/>
                <a:cs typeface="Calibri"/>
              </a:rPr>
              <a:t>Know-how, Datenbasis und Forschung</a:t>
            </a:r>
          </a:p>
        </p:txBody>
      </p:sp>
      <p:sp>
        <p:nvSpPr>
          <p:cNvPr id="31" name="Was es dafür braucht">
            <a:extLst>
              <a:ext uri="{FF2B5EF4-FFF2-40B4-BE49-F238E27FC236}">
                <a16:creationId xmlns:a16="http://schemas.microsoft.com/office/drawing/2014/main" id="{FB62F05D-F335-458A-87D4-D69AE7C4C8CF}"/>
              </a:ext>
            </a:extLst>
          </p:cNvPr>
          <p:cNvSpPr>
            <a:spLocks noGrp="1"/>
          </p:cNvSpPr>
          <p:nvPr/>
        </p:nvSpPr>
        <p:spPr>
          <a:xfrm>
            <a:off x="6381750" y="3533775"/>
            <a:ext cx="5572125" cy="523875"/>
          </a:xfrm>
          <a:prstGeom prst="rect">
            <a:avLst/>
          </a:prstGeom>
          <a:noFill/>
          <a:ln w="0">
            <a:noFill/>
          </a:ln>
        </p:spPr>
        <p:txBody>
          <a:bodyPr anchor="t">
            <a:noAutofit/>
          </a:bodyPr>
          <a:lstStyle/>
          <a:p>
            <a:pPr algn="l">
              <a:buNone/>
              <a:defRPr sz="2475" b="1">
                <a:solidFill>
                  <a:srgbClr val="6C66AC"/>
                </a:solidFill>
                <a:latin typeface="Calibri"/>
                <a:ea typeface="Calibri"/>
                <a:cs typeface="Calibri"/>
              </a:defRPr>
            </a:pPr>
            <a:r>
              <a:rPr sz="2475" b="1">
                <a:solidFill>
                  <a:srgbClr val="6C66AC"/>
                </a:solidFill>
                <a:latin typeface="Calibri"/>
                <a:ea typeface="Calibri"/>
                <a:cs typeface="Calibri"/>
              </a:rPr>
              <a:t>Was es dafür braucht</a:t>
            </a:r>
          </a:p>
        </p:txBody>
      </p:sp>
      <p:sp>
        <p:nvSpPr>
          <p:cNvPr id="32" name="Deregulierung">
            <a:extLst>
              <a:ext uri="{FF2B5EF4-FFF2-40B4-BE49-F238E27FC236}">
                <a16:creationId xmlns:a16="http://schemas.microsoft.com/office/drawing/2014/main" id="{B39B35B4-8C24-44DF-BAD8-2EE8705C45CA}"/>
              </a:ext>
            </a:extLst>
          </p:cNvPr>
          <p:cNvSpPr>
            <a:spLocks noGrp="1"/>
          </p:cNvSpPr>
          <p:nvPr/>
        </p:nvSpPr>
        <p:spPr>
          <a:xfrm>
            <a:off x="6381750" y="4105275"/>
            <a:ext cx="5572125" cy="2324100"/>
          </a:xfrm>
          <a:prstGeom prst="rect">
            <a:avLst/>
          </a:prstGeom>
          <a:noFill/>
          <a:ln w="0">
            <a:noFill/>
          </a:ln>
        </p:spPr>
        <p:txBody>
          <a:bodyPr anchor="t">
            <a:noAutofit/>
          </a:bodyPr>
          <a:lstStyle/>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Deregulierung</a:t>
            </a:r>
          </a:p>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Bezahlbare Energie</a:t>
            </a:r>
          </a:p>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Leistungsfähige IT-Infrastruktur</a:t>
            </a:r>
          </a:p>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Flexibler Arbeitsmarkt</a:t>
            </a:r>
          </a:p>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Wagniskapital</a:t>
            </a:r>
          </a:p>
        </p:txBody>
      </p:sp>
    </p:spTree>
    <p:extLst>
      <p:ext uri="{BB962C8B-B14F-4D97-AF65-F5344CB8AC3E}">
        <p14:creationId xmlns:p14="http://schemas.microsoft.com/office/powerpoint/2010/main" val="1279808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E60C6D-4E85-4E14-BCDF-BF15C241F7CA}"/>
              </a:ext>
            </a:extLst>
          </p:cNvPr>
          <p:cNvSpPr>
            <a:spLocks noGrp="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Freeform: Shape 15">
            <a:extLst>
              <a:ext uri="{FF2B5EF4-FFF2-40B4-BE49-F238E27FC236}">
                <a16:creationId xmlns:a16="http://schemas.microsoft.com/office/drawing/2014/main" id="{7D42D292-4C48-479B-9E59-E29CD9871C0C}"/>
              </a:ext>
            </a:extLst>
          </p:cNvPr>
          <p:cNvSpPr>
            <a:spLocks noGrp="1"/>
          </p:cNvSpPr>
          <p:nvPr/>
        </p:nvSpPr>
        <p:spPr>
          <a:xfrm flipH="1">
            <a:off x="-1" y="3993734"/>
            <a:ext cx="5581650" cy="2864266"/>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rgbClr val="41B6A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8" name="Arc 17">
            <a:extLst>
              <a:ext uri="{FF2B5EF4-FFF2-40B4-BE49-F238E27FC236}">
                <a16:creationId xmlns:a16="http://schemas.microsoft.com/office/drawing/2014/main" id="{533DF362-939D-4EEE-8DC4-6B54607E5611}"/>
              </a:ext>
            </a:extLst>
          </p:cNvPr>
          <p:cNvSpPr>
            <a:spLocks noGrp="1"/>
          </p:cNvSpPr>
          <p:nvPr/>
        </p:nvSpPr>
        <p:spPr>
          <a:xfrm rot="1095198">
            <a:off x="1539683" y="162676"/>
            <a:ext cx="4083433" cy="4083433"/>
          </a:xfrm>
          <a:prstGeom prst="arc">
            <a:avLst>
              <a:gd name="adj1" fmla="val 17445962"/>
              <a:gd name="adj2" fmla="val 0"/>
            </a:avLst>
          </a:prstGeom>
          <a:ln w="127000">
            <a:solidFill>
              <a:srgbClr val="41B6A3"/>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buNone/>
            </a:pPr>
            <a:endParaRPr/>
          </a:p>
        </p:txBody>
      </p:sp>
      <p:sp>
        <p:nvSpPr>
          <p:cNvPr id="9" name="Grafik 10">
            <a:extLst>
              <a:ext uri="{FF2B5EF4-FFF2-40B4-BE49-F238E27FC236}">
                <a16:creationId xmlns:a16="http://schemas.microsoft.com/office/drawing/2014/main" id="{21B0CE7D-22D5-FD81-EC6F-D876EA605AB1}"/>
              </a:ext>
            </a:extLst>
          </p:cNvPr>
          <p:cNvSpPr>
            <a:spLocks noGrp="1"/>
          </p:cNvSpPr>
          <p:nvPr/>
        </p:nvSpPr>
        <p:spPr>
          <a:xfrm>
            <a:off x="2166951" y="3473086"/>
            <a:ext cx="1683707" cy="1961410"/>
          </a:xfrm>
          <a:custGeom>
            <a:avLst/>
            <a:gdLst>
              <a:gd name="connsiteX0" fmla="*/ 916200 w 1683707"/>
              <a:gd name="connsiteY0" fmla="*/ 1961410 h 1961410"/>
              <a:gd name="connsiteX1" fmla="*/ 0 w 1683707"/>
              <a:gd name="connsiteY1" fmla="*/ 1961410 h 1961410"/>
              <a:gd name="connsiteX2" fmla="*/ 767508 w 1683707"/>
              <a:gd name="connsiteY2" fmla="*/ 980705 h 1961410"/>
              <a:gd name="connsiteX3" fmla="*/ 0 w 1683707"/>
              <a:gd name="connsiteY3" fmla="*/ 0 h 1961410"/>
              <a:gd name="connsiteX4" fmla="*/ 916200 w 1683707"/>
              <a:gd name="connsiteY4" fmla="*/ 0 h 1961410"/>
              <a:gd name="connsiteX5" fmla="*/ 1683708 w 1683707"/>
              <a:gd name="connsiteY5" fmla="*/ 980705 h 1961410"/>
              <a:gd name="connsiteX6" fmla="*/ 916200 w 1683707"/>
              <a:gd name="connsiteY6" fmla="*/ 1961410 h 1961410"/>
            </a:gdLst>
            <a:ahLst/>
            <a:cxnLst/>
            <a:rect l="l" t="t" r="r" b="b"/>
            <a:pathLst>
              <a:path w="1683707" h="1961410">
                <a:moveTo>
                  <a:pt x="916200" y="1961410"/>
                </a:moveTo>
                <a:lnTo>
                  <a:pt x="0" y="1961410"/>
                </a:lnTo>
                <a:lnTo>
                  <a:pt x="767508" y="980705"/>
                </a:lnTo>
                <a:lnTo>
                  <a:pt x="0" y="0"/>
                </a:lnTo>
                <a:lnTo>
                  <a:pt x="916200" y="0"/>
                </a:lnTo>
                <a:lnTo>
                  <a:pt x="1683708" y="980705"/>
                </a:lnTo>
                <a:lnTo>
                  <a:pt x="916200" y="1961410"/>
                </a:lnTo>
                <a:close/>
              </a:path>
            </a:pathLst>
          </a:custGeom>
          <a:solidFill>
            <a:srgbClr val="6C66AC"/>
          </a:solidFill>
          <a:ln w="54483">
            <a:noFill/>
            <a:prstDash val="solid"/>
          </a:ln>
        </p:spPr>
        <p:txBody>
          <a:bodyPr anchor="ctr"/>
          <a:lstStyle/>
          <a:p>
            <a:endParaRPr/>
          </a:p>
        </p:txBody>
      </p:sp>
      <p:sp>
        <p:nvSpPr>
          <p:cNvPr id="8" name="Grafik 2">
            <a:extLst>
              <a:ext uri="{FF2B5EF4-FFF2-40B4-BE49-F238E27FC236}">
                <a16:creationId xmlns:a16="http://schemas.microsoft.com/office/drawing/2014/main" id="{93FB8B2E-BFB5-5BC6-729A-5C3628818683}"/>
              </a:ext>
            </a:extLst>
          </p:cNvPr>
          <p:cNvSpPr>
            <a:spLocks noGrp="1"/>
          </p:cNvSpPr>
          <p:nvPr/>
        </p:nvSpPr>
        <p:spPr>
          <a:xfrm>
            <a:off x="5605515" y="3584917"/>
            <a:ext cx="1181790" cy="1376709"/>
          </a:xfrm>
          <a:custGeom>
            <a:avLst/>
            <a:gdLst>
              <a:gd name="connsiteX0" fmla="*/ 643078 w 1181790"/>
              <a:gd name="connsiteY0" fmla="*/ 1376709 h 1376709"/>
              <a:gd name="connsiteX1" fmla="*/ 0 w 1181790"/>
              <a:gd name="connsiteY1" fmla="*/ 1376709 h 1376709"/>
              <a:gd name="connsiteX2" fmla="*/ 538712 w 1181790"/>
              <a:gd name="connsiteY2" fmla="*/ 688355 h 1376709"/>
              <a:gd name="connsiteX3" fmla="*/ 0 w 1181790"/>
              <a:gd name="connsiteY3" fmla="*/ 0 h 1376709"/>
              <a:gd name="connsiteX4" fmla="*/ 643078 w 1181790"/>
              <a:gd name="connsiteY4" fmla="*/ 0 h 1376709"/>
              <a:gd name="connsiteX5" fmla="*/ 1181791 w 1181790"/>
              <a:gd name="connsiteY5" fmla="*/ 688355 h 1376709"/>
              <a:gd name="connsiteX6" fmla="*/ 643078 w 1181790"/>
              <a:gd name="connsiteY6" fmla="*/ 1376709 h 1376709"/>
            </a:gdLst>
            <a:ahLst/>
            <a:cxnLst/>
            <a:rect l="l" t="t" r="r" b="b"/>
            <a:pathLst>
              <a:path w="1181790" h="1376709">
                <a:moveTo>
                  <a:pt x="643078" y="1376709"/>
                </a:moveTo>
                <a:lnTo>
                  <a:pt x="0" y="1376709"/>
                </a:lnTo>
                <a:lnTo>
                  <a:pt x="538712" y="688355"/>
                </a:lnTo>
                <a:lnTo>
                  <a:pt x="0" y="0"/>
                </a:lnTo>
                <a:lnTo>
                  <a:pt x="643078" y="0"/>
                </a:lnTo>
                <a:lnTo>
                  <a:pt x="1181791" y="688355"/>
                </a:lnTo>
                <a:lnTo>
                  <a:pt x="643078" y="1376709"/>
                </a:lnTo>
                <a:close/>
              </a:path>
            </a:pathLst>
          </a:custGeom>
          <a:solidFill>
            <a:srgbClr val="6C66AC"/>
          </a:solidFill>
          <a:ln w="38291">
            <a:noFill/>
            <a:prstDash val="solid"/>
          </a:ln>
        </p:spPr>
        <p:txBody>
          <a:bodyPr anchor="ctr"/>
          <a:lstStyle/>
          <a:p>
            <a:endParaRPr/>
          </a:p>
        </p:txBody>
      </p:sp>
      <p:sp>
        <p:nvSpPr>
          <p:cNvPr id="7" name="Grafik 4">
            <a:extLst>
              <a:ext uri="{FF2B5EF4-FFF2-40B4-BE49-F238E27FC236}">
                <a16:creationId xmlns:a16="http://schemas.microsoft.com/office/drawing/2014/main" id="{D4C0921D-28F9-64DE-3702-6F750DBEA182}"/>
              </a:ext>
            </a:extLst>
          </p:cNvPr>
          <p:cNvSpPr>
            <a:spLocks noGrp="1"/>
          </p:cNvSpPr>
          <p:nvPr/>
        </p:nvSpPr>
        <p:spPr>
          <a:xfrm>
            <a:off x="6621063" y="1881961"/>
            <a:ext cx="553557" cy="644859"/>
          </a:xfrm>
          <a:custGeom>
            <a:avLst/>
            <a:gdLst>
              <a:gd name="connsiteX0" fmla="*/ 301222 w 553557"/>
              <a:gd name="connsiteY0" fmla="*/ 644859 h 644859"/>
              <a:gd name="connsiteX1" fmla="*/ 0 w 553557"/>
              <a:gd name="connsiteY1" fmla="*/ 644859 h 644859"/>
              <a:gd name="connsiteX2" fmla="*/ 252336 w 553557"/>
              <a:gd name="connsiteY2" fmla="*/ 322430 h 644859"/>
              <a:gd name="connsiteX3" fmla="*/ 0 w 553557"/>
              <a:gd name="connsiteY3" fmla="*/ 0 h 644859"/>
              <a:gd name="connsiteX4" fmla="*/ 301222 w 553557"/>
              <a:gd name="connsiteY4" fmla="*/ 0 h 644859"/>
              <a:gd name="connsiteX5" fmla="*/ 553558 w 553557"/>
              <a:gd name="connsiteY5" fmla="*/ 322430 h 644859"/>
              <a:gd name="connsiteX6" fmla="*/ 301222 w 553557"/>
              <a:gd name="connsiteY6" fmla="*/ 644859 h 644859"/>
            </a:gdLst>
            <a:ahLst/>
            <a:cxnLst/>
            <a:rect l="l" t="t" r="r" b="b"/>
            <a:pathLst>
              <a:path w="553557" h="644859">
                <a:moveTo>
                  <a:pt x="301222" y="644859"/>
                </a:moveTo>
                <a:lnTo>
                  <a:pt x="0" y="644859"/>
                </a:lnTo>
                <a:lnTo>
                  <a:pt x="252336" y="322430"/>
                </a:lnTo>
                <a:lnTo>
                  <a:pt x="0" y="0"/>
                </a:lnTo>
                <a:lnTo>
                  <a:pt x="301222" y="0"/>
                </a:lnTo>
                <a:lnTo>
                  <a:pt x="553558" y="322430"/>
                </a:lnTo>
                <a:lnTo>
                  <a:pt x="301222" y="644859"/>
                </a:lnTo>
                <a:close/>
              </a:path>
            </a:pathLst>
          </a:custGeom>
          <a:solidFill>
            <a:srgbClr val="6C66AC"/>
          </a:solidFill>
          <a:ln w="17907">
            <a:noFill/>
            <a:prstDash val="solid"/>
          </a:ln>
        </p:spPr>
        <p:txBody>
          <a:bodyPr anchor="ctr"/>
          <a:lstStyle/>
          <a:p>
            <a:endParaRPr/>
          </a:p>
        </p:txBody>
      </p:sp>
      <p:sp>
        <p:nvSpPr>
          <p:cNvPr id="19" name="BETRIEBLICHE">
            <a:extLst>
              <a:ext uri="{FF2B5EF4-FFF2-40B4-BE49-F238E27FC236}">
                <a16:creationId xmlns:a16="http://schemas.microsoft.com/office/drawing/2014/main" id="{0031C487-2633-48E4-B828-AD27D112B619}"/>
              </a:ext>
            </a:extLst>
          </p:cNvPr>
          <p:cNvSpPr>
            <a:spLocks noGrp="1"/>
          </p:cNvSpPr>
          <p:nvPr/>
        </p:nvSpPr>
        <p:spPr>
          <a:xfrm>
            <a:off x="495300" y="1200150"/>
            <a:ext cx="4667250" cy="2286000"/>
          </a:xfrm>
          <a:prstGeom prst="rect">
            <a:avLst/>
          </a:prstGeom>
          <a:noFill/>
          <a:ln w="0">
            <a:noFill/>
          </a:ln>
        </p:spPr>
        <p:txBody>
          <a:bodyPr anchor="t">
            <a:noAutofit/>
          </a:bodyPr>
          <a:lstStyle/>
          <a:p>
            <a:pPr algn="l">
              <a:buNone/>
              <a:defRPr sz="3600" b="1">
                <a:solidFill>
                  <a:srgbClr val="6C66AC"/>
                </a:solidFill>
                <a:latin typeface="Calibri"/>
                <a:ea typeface="Calibri"/>
                <a:cs typeface="Calibri"/>
              </a:defRPr>
            </a:pPr>
            <a:r>
              <a:rPr sz="3600" b="1">
                <a:solidFill>
                  <a:srgbClr val="6C66AC"/>
                </a:solidFill>
                <a:latin typeface="Calibri"/>
                <a:ea typeface="Calibri"/>
                <a:cs typeface="Calibri"/>
              </a:rPr>
              <a:t>BETRIEBLICHE</a:t>
            </a:r>
          </a:p>
          <a:p>
            <a:pPr algn="l">
              <a:buNone/>
              <a:defRPr sz="3600" b="1">
                <a:solidFill>
                  <a:srgbClr val="6C66AC"/>
                </a:solidFill>
                <a:latin typeface="Calibri"/>
                <a:ea typeface="Calibri"/>
                <a:cs typeface="Calibri"/>
              </a:defRPr>
            </a:pPr>
            <a:r>
              <a:rPr sz="3600" b="1">
                <a:solidFill>
                  <a:srgbClr val="6C66AC"/>
                </a:solidFill>
                <a:latin typeface="Calibri"/>
                <a:ea typeface="Calibri"/>
                <a:cs typeface="Calibri"/>
              </a:rPr>
              <a:t>ABLÄUFE NEU</a:t>
            </a:r>
          </a:p>
          <a:p>
            <a:pPr algn="l">
              <a:buNone/>
              <a:defRPr sz="3600" b="1">
                <a:solidFill>
                  <a:srgbClr val="6C66AC"/>
                </a:solidFill>
                <a:latin typeface="Calibri"/>
                <a:ea typeface="Calibri"/>
                <a:cs typeface="Calibri"/>
              </a:defRPr>
            </a:pPr>
            <a:r>
              <a:rPr sz="3600" b="1">
                <a:solidFill>
                  <a:srgbClr val="6C66AC"/>
                </a:solidFill>
                <a:latin typeface="Calibri"/>
                <a:ea typeface="Calibri"/>
                <a:cs typeface="Calibri"/>
              </a:rPr>
              <a:t>DENKEN</a:t>
            </a:r>
          </a:p>
        </p:txBody>
      </p:sp>
      <p:sp>
        <p:nvSpPr>
          <p:cNvPr id="20" name="Wettbewerbsfähigkeit">
            <a:extLst>
              <a:ext uri="{FF2B5EF4-FFF2-40B4-BE49-F238E27FC236}">
                <a16:creationId xmlns:a16="http://schemas.microsoft.com/office/drawing/2014/main" id="{ABDBB86A-AD53-49A9-88C8-1328560F68D1}"/>
              </a:ext>
            </a:extLst>
          </p:cNvPr>
          <p:cNvSpPr>
            <a:spLocks noGrp="1"/>
          </p:cNvSpPr>
          <p:nvPr/>
        </p:nvSpPr>
        <p:spPr>
          <a:xfrm>
            <a:off x="7620000" y="1952625"/>
            <a:ext cx="4286250" cy="1809750"/>
          </a:xfrm>
          <a:prstGeom prst="rect">
            <a:avLst/>
          </a:prstGeom>
          <a:noFill/>
          <a:ln w="0">
            <a:noFill/>
          </a:ln>
        </p:spPr>
        <p:txBody>
          <a:bodyPr anchor="t">
            <a:noAutofit/>
          </a:bodyPr>
          <a:lstStyle/>
          <a:p>
            <a:pPr algn="l">
              <a:buNone/>
              <a:defRPr sz="3000" b="0">
                <a:solidFill>
                  <a:srgbClr val="000000"/>
                </a:solidFill>
                <a:latin typeface="Calibri"/>
                <a:ea typeface="Calibri"/>
                <a:cs typeface="Calibri"/>
              </a:defRPr>
            </a:pPr>
            <a:r>
              <a:rPr sz="3000" b="0">
                <a:solidFill>
                  <a:srgbClr val="000000"/>
                </a:solidFill>
                <a:latin typeface="Calibri"/>
                <a:ea typeface="Calibri"/>
                <a:cs typeface="Calibri"/>
              </a:rPr>
              <a:t>Wettbewerbsfähigkeit</a:t>
            </a:r>
          </a:p>
          <a:p>
            <a:pPr algn="l">
              <a:buNone/>
              <a:defRPr sz="3000" b="0">
                <a:solidFill>
                  <a:srgbClr val="000000"/>
                </a:solidFill>
                <a:latin typeface="Calibri"/>
                <a:ea typeface="Calibri"/>
                <a:cs typeface="Calibri"/>
              </a:defRPr>
            </a:pPr>
            <a:r>
              <a:rPr sz="3000" b="0">
                <a:solidFill>
                  <a:srgbClr val="000000"/>
                </a:solidFill>
                <a:latin typeface="Calibri"/>
                <a:ea typeface="Calibri"/>
                <a:cs typeface="Calibri"/>
              </a:rPr>
              <a:t>beginnt im eigenen</a:t>
            </a:r>
          </a:p>
          <a:p>
            <a:pPr algn="l">
              <a:buNone/>
              <a:defRPr sz="3000" b="0">
                <a:solidFill>
                  <a:srgbClr val="000000"/>
                </a:solidFill>
                <a:latin typeface="Calibri"/>
                <a:ea typeface="Calibri"/>
                <a:cs typeface="Calibri"/>
              </a:defRPr>
            </a:pPr>
            <a:r>
              <a:rPr sz="3000" b="0">
                <a:solidFill>
                  <a:srgbClr val="000000"/>
                </a:solidFill>
                <a:latin typeface="Calibri"/>
                <a:ea typeface="Calibri"/>
                <a:cs typeface="Calibri"/>
              </a:rPr>
              <a:t>Unternehmen</a:t>
            </a:r>
          </a:p>
        </p:txBody>
      </p:sp>
      <p:sp>
        <p:nvSpPr>
          <p:cNvPr id="21" name="KI sinnvoll einsetzen heißt:">
            <a:extLst>
              <a:ext uri="{FF2B5EF4-FFF2-40B4-BE49-F238E27FC236}">
                <a16:creationId xmlns:a16="http://schemas.microsoft.com/office/drawing/2014/main" id="{B9A594AB-E307-4D51-81CC-4C3AED52C0D2}"/>
              </a:ext>
            </a:extLst>
          </p:cNvPr>
          <p:cNvSpPr>
            <a:spLocks noGrp="1"/>
          </p:cNvSpPr>
          <p:nvPr/>
        </p:nvSpPr>
        <p:spPr>
          <a:xfrm>
            <a:off x="7620000" y="4114800"/>
            <a:ext cx="4286250" cy="1619250"/>
          </a:xfrm>
          <a:prstGeom prst="rect">
            <a:avLst/>
          </a:prstGeom>
          <a:noFill/>
          <a:ln w="0">
            <a:noFill/>
          </a:ln>
        </p:spPr>
        <p:txBody>
          <a:bodyPr anchor="t">
            <a:noAutofit/>
          </a:bodyPr>
          <a:lstStyle/>
          <a:p>
            <a:pPr algn="l">
              <a:buNone/>
              <a:defRPr sz="2400" b="0">
                <a:solidFill>
                  <a:srgbClr val="000000"/>
                </a:solidFill>
                <a:latin typeface="Calibri"/>
                <a:ea typeface="Calibri"/>
                <a:cs typeface="Calibri"/>
              </a:defRPr>
            </a:pPr>
            <a:r>
              <a:rPr sz="2400" b="0">
                <a:solidFill>
                  <a:srgbClr val="000000"/>
                </a:solidFill>
                <a:latin typeface="Calibri"/>
                <a:ea typeface="Calibri"/>
                <a:cs typeface="Calibri"/>
              </a:rPr>
              <a:t>KI sinnvoll einsetzen heißt:</a:t>
            </a:r>
          </a:p>
          <a:p>
            <a:pPr algn="l">
              <a:buNone/>
              <a:defRPr sz="2400" b="0">
                <a:solidFill>
                  <a:srgbClr val="000000"/>
                </a:solidFill>
                <a:latin typeface="Calibri"/>
                <a:ea typeface="Calibri"/>
                <a:cs typeface="Calibri"/>
              </a:defRPr>
            </a:pPr>
            <a:r>
              <a:rPr sz="2400" b="0">
                <a:solidFill>
                  <a:srgbClr val="000000"/>
                </a:solidFill>
                <a:latin typeface="Calibri"/>
                <a:ea typeface="Calibri"/>
                <a:cs typeface="Calibri"/>
              </a:rPr>
              <a:t>Abläufe schrittweise</a:t>
            </a:r>
          </a:p>
          <a:p>
            <a:pPr algn="l">
              <a:buNone/>
              <a:defRPr sz="2400" b="0">
                <a:solidFill>
                  <a:srgbClr val="000000"/>
                </a:solidFill>
                <a:latin typeface="Calibri"/>
                <a:ea typeface="Calibri"/>
                <a:cs typeface="Calibri"/>
              </a:defRPr>
            </a:pPr>
            <a:r>
              <a:rPr sz="2400" b="0">
                <a:solidFill>
                  <a:srgbClr val="000000"/>
                </a:solidFill>
                <a:latin typeface="Calibri"/>
                <a:ea typeface="Calibri"/>
                <a:cs typeface="Calibri"/>
              </a:rPr>
              <a:t>verändern.</a:t>
            </a:r>
          </a:p>
        </p:txBody>
      </p:sp>
      <p:pic>
        <p:nvPicPr>
          <p:cNvPr id="32" name="Grafik 31"/>
          <p:cNvPicPr>
            <a:picLocks noChangeAspect="1"/>
          </p:cNvPicPr>
          <p:nvPr/>
        </p:nvPicPr>
        <p:blipFill>
          <a:blip r:embed="rId3"/>
          <a:stretch/>
        </p:blipFill>
        <p:spPr>
          <a:xfrm>
            <a:off x="10391974" y="0"/>
            <a:ext cx="1800018" cy="1126427"/>
          </a:xfrm>
          <a:prstGeom prst="rect">
            <a:avLst/>
          </a:prstGeom>
        </p:spPr>
      </p:pic>
    </p:spTree>
    <p:extLst>
      <p:ext uri="{BB962C8B-B14F-4D97-AF65-F5344CB8AC3E}">
        <p14:creationId xmlns:p14="http://schemas.microsoft.com/office/powerpoint/2010/main" val="2248479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6" name="Grafik 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91997" y="0"/>
            <a:ext cx="1800003" cy="1126417"/>
          </a:xfrm>
          <a:prstGeom prst="rect">
            <a:avLst/>
          </a:prstGeom>
        </p:spPr>
      </p:pic>
      <p:sp>
        <p:nvSpPr>
          <p:cNvPr id="14" name="KI IM UNTERNEHMENSALLTAG">
            <a:extLst>
              <a:ext uri="{FF2B5EF4-FFF2-40B4-BE49-F238E27FC236}">
                <a16:creationId xmlns:a16="http://schemas.microsoft.com/office/drawing/2014/main" id="{3AFAA8EB-032F-4DD6-8F12-8BBE155AD658}"/>
              </a:ext>
            </a:extLst>
          </p:cNvPr>
          <p:cNvSpPr>
            <a:spLocks noGrp="1"/>
          </p:cNvSpPr>
          <p:nvPr/>
        </p:nvSpPr>
        <p:spPr>
          <a:xfrm>
            <a:off x="619125" y="1143000"/>
            <a:ext cx="10572750" cy="762000"/>
          </a:xfrm>
          <a:prstGeom prst="rect">
            <a:avLst/>
          </a:prstGeom>
          <a:noFill/>
          <a:ln w="0">
            <a:noFill/>
          </a:ln>
        </p:spPr>
        <p:txBody>
          <a:bodyPr anchor="t">
            <a:noAutofit/>
          </a:bodyPr>
          <a:lstStyle/>
          <a:p>
            <a:pPr algn="l">
              <a:buNone/>
              <a:defRPr sz="3450" b="1">
                <a:solidFill>
                  <a:srgbClr val="6C66AC"/>
                </a:solidFill>
                <a:latin typeface="Calibri"/>
                <a:ea typeface="Calibri"/>
                <a:cs typeface="Calibri"/>
              </a:defRPr>
            </a:pPr>
            <a:r>
              <a:rPr sz="3450" b="1">
                <a:solidFill>
                  <a:srgbClr val="6C66AC"/>
                </a:solidFill>
                <a:latin typeface="Calibri"/>
                <a:ea typeface="Calibri"/>
                <a:cs typeface="Calibri"/>
              </a:rPr>
              <a:t>KI IM UNTERNEHMENSALLTAG</a:t>
            </a:r>
          </a:p>
        </p:txBody>
      </p:sp>
      <p:pic>
        <p:nvPicPr>
          <p:cNvPr id="28" name="Grafik 27"/>
          <p:cNvPicPr>
            <a:picLocks noChangeAspect="1"/>
          </p:cNvPicPr>
          <p:nvPr/>
        </p:nvPicPr>
        <p:blipFill>
          <a:blip r:embed="rId4"/>
          <a:stretch/>
        </p:blipFill>
        <p:spPr>
          <a:xfrm>
            <a:off x="571500" y="2239963"/>
            <a:ext cx="11049000" cy="3683000"/>
          </a:xfrm>
          <a:prstGeom prst="rect">
            <a:avLst/>
          </a:prstGeom>
        </p:spPr>
      </p:pic>
      <p:sp>
        <p:nvSpPr>
          <p:cNvPr id="16" name="Prozesse">
            <a:extLst>
              <a:ext uri="{FF2B5EF4-FFF2-40B4-BE49-F238E27FC236}">
                <a16:creationId xmlns:a16="http://schemas.microsoft.com/office/drawing/2014/main" id="{24BF7F6D-FD0D-4EC1-A885-F033A1672D6F}"/>
              </a:ext>
            </a:extLst>
          </p:cNvPr>
          <p:cNvSpPr>
            <a:spLocks noGrp="1"/>
          </p:cNvSpPr>
          <p:nvPr/>
        </p:nvSpPr>
        <p:spPr>
          <a:xfrm>
            <a:off x="571500" y="5257800"/>
            <a:ext cx="2762250" cy="457200"/>
          </a:xfrm>
          <a:prstGeom prst="rect">
            <a:avLst/>
          </a:prstGeom>
          <a:noFill/>
          <a:ln w="0">
            <a:noFill/>
          </a:ln>
        </p:spPr>
        <p:txBody>
          <a:bodyPr anchor="t">
            <a:noAutofit/>
          </a:bodyPr>
          <a:lstStyle/>
          <a:p>
            <a:pPr algn="ctr">
              <a:buNone/>
              <a:defRPr sz="2250" b="1">
                <a:solidFill>
                  <a:srgbClr val="00AB97"/>
                </a:solidFill>
                <a:latin typeface="Calibri"/>
                <a:ea typeface="Calibri"/>
                <a:cs typeface="Calibri"/>
              </a:defRPr>
            </a:pPr>
            <a:r>
              <a:rPr sz="2250" b="1">
                <a:solidFill>
                  <a:srgbClr val="00AB97"/>
                </a:solidFill>
                <a:latin typeface="Calibri"/>
                <a:ea typeface="Calibri"/>
                <a:cs typeface="Calibri"/>
              </a:rPr>
              <a:t>Prozesse</a:t>
            </a:r>
          </a:p>
        </p:txBody>
      </p:sp>
      <p:sp>
        <p:nvSpPr>
          <p:cNvPr id="17" name="Routine entlasten">
            <a:extLst>
              <a:ext uri="{FF2B5EF4-FFF2-40B4-BE49-F238E27FC236}">
                <a16:creationId xmlns:a16="http://schemas.microsoft.com/office/drawing/2014/main" id="{608D04FA-3DCD-4A3B-9CD4-4D401893F22D}"/>
              </a:ext>
            </a:extLst>
          </p:cNvPr>
          <p:cNvSpPr>
            <a:spLocks noGrp="1"/>
          </p:cNvSpPr>
          <p:nvPr/>
        </p:nvSpPr>
        <p:spPr>
          <a:xfrm>
            <a:off x="571500" y="5724525"/>
            <a:ext cx="2762250" cy="495300"/>
          </a:xfrm>
          <a:prstGeom prst="rect">
            <a:avLst/>
          </a:prstGeom>
          <a:noFill/>
          <a:ln w="0">
            <a:noFill/>
          </a:ln>
        </p:spPr>
        <p:txBody>
          <a:bodyPr anchor="t">
            <a:noAutofit/>
          </a:bodyPr>
          <a:lstStyle/>
          <a:p>
            <a:pPr algn="ctr">
              <a:buNone/>
              <a:defRPr sz="1800" b="0">
                <a:solidFill>
                  <a:srgbClr val="000000"/>
                </a:solidFill>
                <a:latin typeface="Calibri"/>
                <a:ea typeface="Calibri"/>
                <a:cs typeface="Calibri"/>
              </a:defRPr>
            </a:pPr>
            <a:r>
              <a:rPr sz="1800" b="0">
                <a:solidFill>
                  <a:srgbClr val="000000"/>
                </a:solidFill>
                <a:latin typeface="Calibri"/>
                <a:ea typeface="Calibri"/>
                <a:cs typeface="Calibri"/>
              </a:rPr>
              <a:t>Routine entlasten</a:t>
            </a:r>
          </a:p>
        </p:txBody>
      </p:sp>
      <p:sp>
        <p:nvSpPr>
          <p:cNvPr id="18" name="Geschwindigkeit">
            <a:extLst>
              <a:ext uri="{FF2B5EF4-FFF2-40B4-BE49-F238E27FC236}">
                <a16:creationId xmlns:a16="http://schemas.microsoft.com/office/drawing/2014/main" id="{CDF1B4D4-E472-40BD-994C-2B9CD338C8A2}"/>
              </a:ext>
            </a:extLst>
          </p:cNvPr>
          <p:cNvSpPr>
            <a:spLocks noGrp="1"/>
          </p:cNvSpPr>
          <p:nvPr/>
        </p:nvSpPr>
        <p:spPr>
          <a:xfrm>
            <a:off x="3333750" y="5257800"/>
            <a:ext cx="2762250" cy="457200"/>
          </a:xfrm>
          <a:prstGeom prst="rect">
            <a:avLst/>
          </a:prstGeom>
          <a:noFill/>
          <a:ln w="0">
            <a:noFill/>
          </a:ln>
        </p:spPr>
        <p:txBody>
          <a:bodyPr anchor="t">
            <a:noAutofit/>
          </a:bodyPr>
          <a:lstStyle/>
          <a:p>
            <a:pPr algn="ctr">
              <a:buNone/>
              <a:defRPr sz="2250" b="1">
                <a:solidFill>
                  <a:srgbClr val="00AB97"/>
                </a:solidFill>
                <a:latin typeface="Calibri"/>
                <a:ea typeface="Calibri"/>
                <a:cs typeface="Calibri"/>
              </a:defRPr>
            </a:pPr>
            <a:r>
              <a:rPr sz="2250" b="1">
                <a:solidFill>
                  <a:srgbClr val="00AB97"/>
                </a:solidFill>
                <a:latin typeface="Calibri"/>
                <a:ea typeface="Calibri"/>
                <a:cs typeface="Calibri"/>
              </a:rPr>
              <a:t>Geschwindigkeit</a:t>
            </a:r>
          </a:p>
        </p:txBody>
      </p:sp>
      <p:sp>
        <p:nvSpPr>
          <p:cNvPr id="19" name="Zeit gewinnen">
            <a:extLst>
              <a:ext uri="{FF2B5EF4-FFF2-40B4-BE49-F238E27FC236}">
                <a16:creationId xmlns:a16="http://schemas.microsoft.com/office/drawing/2014/main" id="{94570CF7-790E-40D7-A98C-FC664B7A47DA}"/>
              </a:ext>
            </a:extLst>
          </p:cNvPr>
          <p:cNvSpPr>
            <a:spLocks noGrp="1"/>
          </p:cNvSpPr>
          <p:nvPr/>
        </p:nvSpPr>
        <p:spPr>
          <a:xfrm>
            <a:off x="3333750" y="5724525"/>
            <a:ext cx="2762250" cy="495300"/>
          </a:xfrm>
          <a:prstGeom prst="rect">
            <a:avLst/>
          </a:prstGeom>
          <a:noFill/>
          <a:ln w="0">
            <a:noFill/>
          </a:ln>
        </p:spPr>
        <p:txBody>
          <a:bodyPr anchor="t">
            <a:noAutofit/>
          </a:bodyPr>
          <a:lstStyle/>
          <a:p>
            <a:pPr algn="ctr">
              <a:buNone/>
              <a:defRPr sz="1800" b="0">
                <a:solidFill>
                  <a:srgbClr val="000000"/>
                </a:solidFill>
                <a:latin typeface="Calibri"/>
                <a:ea typeface="Calibri"/>
                <a:cs typeface="Calibri"/>
              </a:defRPr>
            </a:pPr>
            <a:r>
              <a:rPr sz="1800" b="0">
                <a:solidFill>
                  <a:srgbClr val="000000"/>
                </a:solidFill>
                <a:latin typeface="Calibri"/>
                <a:ea typeface="Calibri"/>
                <a:cs typeface="Calibri"/>
              </a:rPr>
              <a:t>Zeit gewinnen</a:t>
            </a:r>
          </a:p>
        </p:txBody>
      </p:sp>
      <p:sp>
        <p:nvSpPr>
          <p:cNvPr id="20" name="Genauigkeit">
            <a:extLst>
              <a:ext uri="{FF2B5EF4-FFF2-40B4-BE49-F238E27FC236}">
                <a16:creationId xmlns:a16="http://schemas.microsoft.com/office/drawing/2014/main" id="{D95FB9FE-B77F-4970-9EA3-8B1C6E50A478}"/>
              </a:ext>
            </a:extLst>
          </p:cNvPr>
          <p:cNvSpPr>
            <a:spLocks noGrp="1"/>
          </p:cNvSpPr>
          <p:nvPr/>
        </p:nvSpPr>
        <p:spPr>
          <a:xfrm>
            <a:off x="6096000" y="5257800"/>
            <a:ext cx="2762250" cy="457200"/>
          </a:xfrm>
          <a:prstGeom prst="rect">
            <a:avLst/>
          </a:prstGeom>
          <a:noFill/>
          <a:ln w="0">
            <a:noFill/>
          </a:ln>
        </p:spPr>
        <p:txBody>
          <a:bodyPr anchor="t">
            <a:noAutofit/>
          </a:bodyPr>
          <a:lstStyle/>
          <a:p>
            <a:pPr algn="ctr">
              <a:buNone/>
              <a:defRPr sz="2250" b="1">
                <a:solidFill>
                  <a:srgbClr val="00AB97"/>
                </a:solidFill>
                <a:latin typeface="Calibri"/>
                <a:ea typeface="Calibri"/>
                <a:cs typeface="Calibri"/>
              </a:defRPr>
            </a:pPr>
            <a:r>
              <a:rPr sz="2250" b="1">
                <a:solidFill>
                  <a:srgbClr val="00AB97"/>
                </a:solidFill>
                <a:latin typeface="Calibri"/>
                <a:ea typeface="Calibri"/>
                <a:cs typeface="Calibri"/>
              </a:rPr>
              <a:t>Genauigkeit</a:t>
            </a:r>
          </a:p>
        </p:txBody>
      </p:sp>
      <p:sp>
        <p:nvSpPr>
          <p:cNvPr id="21" name="Qualität unterstützen">
            <a:extLst>
              <a:ext uri="{FF2B5EF4-FFF2-40B4-BE49-F238E27FC236}">
                <a16:creationId xmlns:a16="http://schemas.microsoft.com/office/drawing/2014/main" id="{B2F8B7B4-7B2E-48B0-BF46-55A041A460BB}"/>
              </a:ext>
            </a:extLst>
          </p:cNvPr>
          <p:cNvSpPr>
            <a:spLocks noGrp="1"/>
          </p:cNvSpPr>
          <p:nvPr/>
        </p:nvSpPr>
        <p:spPr>
          <a:xfrm>
            <a:off x="6096000" y="5724525"/>
            <a:ext cx="2762250" cy="495300"/>
          </a:xfrm>
          <a:prstGeom prst="rect">
            <a:avLst/>
          </a:prstGeom>
          <a:noFill/>
          <a:ln w="0">
            <a:noFill/>
          </a:ln>
        </p:spPr>
        <p:txBody>
          <a:bodyPr anchor="t">
            <a:noAutofit/>
          </a:bodyPr>
          <a:lstStyle/>
          <a:p>
            <a:pPr algn="ctr">
              <a:buNone/>
              <a:defRPr sz="1800" b="0">
                <a:solidFill>
                  <a:srgbClr val="000000"/>
                </a:solidFill>
                <a:latin typeface="Calibri"/>
                <a:ea typeface="Calibri"/>
                <a:cs typeface="Calibri"/>
              </a:defRPr>
            </a:pPr>
            <a:r>
              <a:rPr sz="1800" b="0">
                <a:solidFill>
                  <a:srgbClr val="000000"/>
                </a:solidFill>
                <a:latin typeface="Calibri"/>
                <a:ea typeface="Calibri"/>
                <a:cs typeface="Calibri"/>
              </a:rPr>
              <a:t>Qualität unterstützen</a:t>
            </a:r>
          </a:p>
        </p:txBody>
      </p:sp>
      <p:sp>
        <p:nvSpPr>
          <p:cNvPr id="22" name="Service">
            <a:extLst>
              <a:ext uri="{FF2B5EF4-FFF2-40B4-BE49-F238E27FC236}">
                <a16:creationId xmlns:a16="http://schemas.microsoft.com/office/drawing/2014/main" id="{E844DD7D-EBD2-40BD-8416-E9CAF9B35163}"/>
              </a:ext>
            </a:extLst>
          </p:cNvPr>
          <p:cNvSpPr>
            <a:spLocks noGrp="1"/>
          </p:cNvSpPr>
          <p:nvPr/>
        </p:nvSpPr>
        <p:spPr>
          <a:xfrm>
            <a:off x="8858250" y="5257800"/>
            <a:ext cx="2762250" cy="457200"/>
          </a:xfrm>
          <a:prstGeom prst="rect">
            <a:avLst/>
          </a:prstGeom>
          <a:noFill/>
          <a:ln w="0">
            <a:noFill/>
          </a:ln>
        </p:spPr>
        <p:txBody>
          <a:bodyPr anchor="t">
            <a:noAutofit/>
          </a:bodyPr>
          <a:lstStyle/>
          <a:p>
            <a:pPr algn="ctr">
              <a:buNone/>
              <a:defRPr sz="2250" b="1">
                <a:solidFill>
                  <a:srgbClr val="00AB97"/>
                </a:solidFill>
                <a:latin typeface="Calibri"/>
                <a:ea typeface="Calibri"/>
                <a:cs typeface="Calibri"/>
              </a:defRPr>
            </a:pPr>
            <a:r>
              <a:rPr sz="2250" b="1">
                <a:solidFill>
                  <a:srgbClr val="00AB97"/>
                </a:solidFill>
                <a:latin typeface="Calibri"/>
                <a:ea typeface="Calibri"/>
                <a:cs typeface="Calibri"/>
              </a:rPr>
              <a:t>Service</a:t>
            </a:r>
          </a:p>
        </p:txBody>
      </p:sp>
      <p:sp>
        <p:nvSpPr>
          <p:cNvPr id="23" name="Antworten vorbereiten">
            <a:extLst>
              <a:ext uri="{FF2B5EF4-FFF2-40B4-BE49-F238E27FC236}">
                <a16:creationId xmlns:a16="http://schemas.microsoft.com/office/drawing/2014/main" id="{E8D97765-6D3B-4E59-905D-247F1D79ECC5}"/>
              </a:ext>
            </a:extLst>
          </p:cNvPr>
          <p:cNvSpPr>
            <a:spLocks noGrp="1"/>
          </p:cNvSpPr>
          <p:nvPr/>
        </p:nvSpPr>
        <p:spPr>
          <a:xfrm>
            <a:off x="8858250" y="5724525"/>
            <a:ext cx="2762250" cy="495300"/>
          </a:xfrm>
          <a:prstGeom prst="rect">
            <a:avLst/>
          </a:prstGeom>
          <a:noFill/>
          <a:ln w="0">
            <a:noFill/>
          </a:ln>
        </p:spPr>
        <p:txBody>
          <a:bodyPr anchor="t">
            <a:noAutofit/>
          </a:bodyPr>
          <a:lstStyle/>
          <a:p>
            <a:pPr algn="ctr">
              <a:buNone/>
              <a:defRPr sz="1800" b="0">
                <a:solidFill>
                  <a:srgbClr val="000000"/>
                </a:solidFill>
                <a:latin typeface="Calibri"/>
                <a:ea typeface="Calibri"/>
                <a:cs typeface="Calibri"/>
              </a:defRPr>
            </a:pPr>
            <a:r>
              <a:rPr sz="1800" b="0">
                <a:solidFill>
                  <a:srgbClr val="000000"/>
                </a:solidFill>
                <a:latin typeface="Calibri"/>
                <a:ea typeface="Calibri"/>
                <a:cs typeface="Calibri"/>
              </a:rPr>
              <a:t>Antworten vorbereiten</a:t>
            </a:r>
          </a:p>
        </p:txBody>
      </p:sp>
    </p:spTree>
    <p:extLst>
      <p:ext uri="{BB962C8B-B14F-4D97-AF65-F5344CB8AC3E}">
        <p14:creationId xmlns:p14="http://schemas.microsoft.com/office/powerpoint/2010/main" val="3130921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E60C6D-4E85-4E14-BCDF-BF15C241F7CA}"/>
              </a:ext>
            </a:extLst>
          </p:cNvPr>
          <p:cNvSpPr>
            <a:spLocks noGrp="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Freeform: Shape 15">
            <a:extLst>
              <a:ext uri="{FF2B5EF4-FFF2-40B4-BE49-F238E27FC236}">
                <a16:creationId xmlns:a16="http://schemas.microsoft.com/office/drawing/2014/main" id="{7D42D292-4C48-479B-9E59-E29CD9871C0C}"/>
              </a:ext>
            </a:extLst>
          </p:cNvPr>
          <p:cNvSpPr>
            <a:spLocks noGrp="1"/>
          </p:cNvSpPr>
          <p:nvPr/>
        </p:nvSpPr>
        <p:spPr>
          <a:xfrm flipH="1">
            <a:off x="-1" y="3993734"/>
            <a:ext cx="5581650" cy="2864266"/>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rgbClr val="F6CD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8" name="Arc 17">
            <a:extLst>
              <a:ext uri="{FF2B5EF4-FFF2-40B4-BE49-F238E27FC236}">
                <a16:creationId xmlns:a16="http://schemas.microsoft.com/office/drawing/2014/main" id="{533DF362-939D-4EEE-8DC4-6B54607E5611}"/>
              </a:ext>
            </a:extLst>
          </p:cNvPr>
          <p:cNvSpPr>
            <a:spLocks noGrp="1"/>
          </p:cNvSpPr>
          <p:nvPr/>
        </p:nvSpPr>
        <p:spPr>
          <a:xfrm rot="1095198">
            <a:off x="1539683" y="162676"/>
            <a:ext cx="4083433" cy="4083433"/>
          </a:xfrm>
          <a:prstGeom prst="arc">
            <a:avLst>
              <a:gd name="adj1" fmla="val 17445962"/>
              <a:gd name="adj2" fmla="val 0"/>
            </a:avLst>
          </a:prstGeom>
          <a:ln w="127000">
            <a:solidFill>
              <a:srgbClr val="F6CD00"/>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buNone/>
            </a:pPr>
            <a:endParaRPr/>
          </a:p>
        </p:txBody>
      </p:sp>
      <p:sp>
        <p:nvSpPr>
          <p:cNvPr id="9" name="Grafik 18">
            <a:extLst>
              <a:ext uri="{FF2B5EF4-FFF2-40B4-BE49-F238E27FC236}">
                <a16:creationId xmlns:a16="http://schemas.microsoft.com/office/drawing/2014/main" id="{CD0E14D7-C982-1AC1-8B05-D58C501F083D}"/>
              </a:ext>
            </a:extLst>
          </p:cNvPr>
          <p:cNvSpPr>
            <a:spLocks noGrp="1"/>
          </p:cNvSpPr>
          <p:nvPr/>
        </p:nvSpPr>
        <p:spPr>
          <a:xfrm>
            <a:off x="2929764" y="3330535"/>
            <a:ext cx="1692493" cy="1971644"/>
          </a:xfrm>
          <a:custGeom>
            <a:avLst/>
            <a:gdLst>
              <a:gd name="connsiteX0" fmla="*/ 920980 w 1692493"/>
              <a:gd name="connsiteY0" fmla="*/ 1971645 h 1971644"/>
              <a:gd name="connsiteX1" fmla="*/ 0 w 1692493"/>
              <a:gd name="connsiteY1" fmla="*/ 1971645 h 1971644"/>
              <a:gd name="connsiteX2" fmla="*/ 771513 w 1692493"/>
              <a:gd name="connsiteY2" fmla="*/ 985822 h 1971644"/>
              <a:gd name="connsiteX3" fmla="*/ 0 w 1692493"/>
              <a:gd name="connsiteY3" fmla="*/ 0 h 1971644"/>
              <a:gd name="connsiteX4" fmla="*/ 920980 w 1692493"/>
              <a:gd name="connsiteY4" fmla="*/ 0 h 1971644"/>
              <a:gd name="connsiteX5" fmla="*/ 1692493 w 1692493"/>
              <a:gd name="connsiteY5" fmla="*/ 985822 h 1971644"/>
              <a:gd name="connsiteX6" fmla="*/ 920980 w 1692493"/>
              <a:gd name="connsiteY6" fmla="*/ 1971645 h 1971644"/>
            </a:gdLst>
            <a:ahLst/>
            <a:cxnLst/>
            <a:rect l="l" t="t" r="r" b="b"/>
            <a:pathLst>
              <a:path w="1692493" h="1971644">
                <a:moveTo>
                  <a:pt x="920980" y="1971645"/>
                </a:moveTo>
                <a:lnTo>
                  <a:pt x="0" y="1971645"/>
                </a:lnTo>
                <a:lnTo>
                  <a:pt x="771513" y="985822"/>
                </a:lnTo>
                <a:lnTo>
                  <a:pt x="0" y="0"/>
                </a:lnTo>
                <a:lnTo>
                  <a:pt x="920980" y="0"/>
                </a:lnTo>
                <a:lnTo>
                  <a:pt x="1692493" y="985822"/>
                </a:lnTo>
                <a:lnTo>
                  <a:pt x="920980" y="1971645"/>
                </a:lnTo>
                <a:close/>
              </a:path>
            </a:pathLst>
          </a:custGeom>
          <a:solidFill>
            <a:srgbClr val="E9496E"/>
          </a:solidFill>
          <a:ln w="54864">
            <a:noFill/>
            <a:prstDash val="solid"/>
          </a:ln>
        </p:spPr>
        <p:txBody>
          <a:bodyPr anchor="ctr"/>
          <a:lstStyle/>
          <a:p>
            <a:endParaRPr/>
          </a:p>
        </p:txBody>
      </p:sp>
      <p:sp>
        <p:nvSpPr>
          <p:cNvPr id="10" name="Grafik 18">
            <a:extLst>
              <a:ext uri="{FF2B5EF4-FFF2-40B4-BE49-F238E27FC236}">
                <a16:creationId xmlns:a16="http://schemas.microsoft.com/office/drawing/2014/main" id="{8888A030-4C63-4373-A848-2C32780668F8}"/>
              </a:ext>
            </a:extLst>
          </p:cNvPr>
          <p:cNvSpPr>
            <a:spLocks noGrp="1"/>
          </p:cNvSpPr>
          <p:nvPr/>
        </p:nvSpPr>
        <p:spPr>
          <a:xfrm>
            <a:off x="5157477" y="3825246"/>
            <a:ext cx="843156" cy="982222"/>
          </a:xfrm>
          <a:custGeom>
            <a:avLst/>
            <a:gdLst>
              <a:gd name="connsiteX0" fmla="*/ 920980 w 1692493"/>
              <a:gd name="connsiteY0" fmla="*/ 1971645 h 1971644"/>
              <a:gd name="connsiteX1" fmla="*/ 0 w 1692493"/>
              <a:gd name="connsiteY1" fmla="*/ 1971645 h 1971644"/>
              <a:gd name="connsiteX2" fmla="*/ 771513 w 1692493"/>
              <a:gd name="connsiteY2" fmla="*/ 985822 h 1971644"/>
              <a:gd name="connsiteX3" fmla="*/ 0 w 1692493"/>
              <a:gd name="connsiteY3" fmla="*/ 0 h 1971644"/>
              <a:gd name="connsiteX4" fmla="*/ 920980 w 1692493"/>
              <a:gd name="connsiteY4" fmla="*/ 0 h 1971644"/>
              <a:gd name="connsiteX5" fmla="*/ 1692493 w 1692493"/>
              <a:gd name="connsiteY5" fmla="*/ 985822 h 1971644"/>
              <a:gd name="connsiteX6" fmla="*/ 920980 w 1692493"/>
              <a:gd name="connsiteY6" fmla="*/ 1971645 h 1971644"/>
            </a:gdLst>
            <a:ahLst/>
            <a:cxnLst/>
            <a:rect l="l" t="t" r="r" b="b"/>
            <a:pathLst>
              <a:path w="1692493" h="1971644">
                <a:moveTo>
                  <a:pt x="920980" y="1971645"/>
                </a:moveTo>
                <a:lnTo>
                  <a:pt x="0" y="1971645"/>
                </a:lnTo>
                <a:lnTo>
                  <a:pt x="771513" y="985822"/>
                </a:lnTo>
                <a:lnTo>
                  <a:pt x="0" y="0"/>
                </a:lnTo>
                <a:lnTo>
                  <a:pt x="920980" y="0"/>
                </a:lnTo>
                <a:lnTo>
                  <a:pt x="1692493" y="985822"/>
                </a:lnTo>
                <a:lnTo>
                  <a:pt x="920980" y="1971645"/>
                </a:lnTo>
                <a:close/>
              </a:path>
            </a:pathLst>
          </a:custGeom>
          <a:solidFill>
            <a:srgbClr val="E9496E"/>
          </a:solidFill>
          <a:ln w="54864">
            <a:noFill/>
            <a:prstDash val="solid"/>
          </a:ln>
        </p:spPr>
        <p:txBody>
          <a:bodyPr anchor="ctr"/>
          <a:lstStyle/>
          <a:p>
            <a:endParaRPr/>
          </a:p>
        </p:txBody>
      </p:sp>
      <p:sp>
        <p:nvSpPr>
          <p:cNvPr id="19" name="UNSERE">
            <a:extLst>
              <a:ext uri="{FF2B5EF4-FFF2-40B4-BE49-F238E27FC236}">
                <a16:creationId xmlns:a16="http://schemas.microsoft.com/office/drawing/2014/main" id="{69698ECE-F9AA-42BC-A70F-0CE769192E04}"/>
              </a:ext>
            </a:extLst>
          </p:cNvPr>
          <p:cNvSpPr>
            <a:spLocks noGrp="1"/>
          </p:cNvSpPr>
          <p:nvPr/>
        </p:nvSpPr>
        <p:spPr>
          <a:xfrm>
            <a:off x="952500" y="1257300"/>
            <a:ext cx="3952875" cy="1476375"/>
          </a:xfrm>
          <a:prstGeom prst="rect">
            <a:avLst/>
          </a:prstGeom>
          <a:noFill/>
          <a:ln w="0">
            <a:noFill/>
          </a:ln>
        </p:spPr>
        <p:txBody>
          <a:bodyPr anchor="t">
            <a:noAutofit/>
          </a:bodyPr>
          <a:lstStyle/>
          <a:p>
            <a:pPr algn="l">
              <a:buNone/>
              <a:defRPr sz="3900" b="1">
                <a:solidFill>
                  <a:srgbClr val="E9496E"/>
                </a:solidFill>
                <a:latin typeface="Calibri"/>
                <a:ea typeface="Calibri"/>
                <a:cs typeface="Calibri"/>
              </a:defRPr>
            </a:pPr>
            <a:r>
              <a:rPr sz="3900" b="1">
                <a:solidFill>
                  <a:srgbClr val="E9496E"/>
                </a:solidFill>
                <a:latin typeface="Calibri"/>
                <a:ea typeface="Calibri"/>
                <a:cs typeface="Calibri"/>
              </a:rPr>
              <a:t>UNSERE</a:t>
            </a:r>
          </a:p>
          <a:p>
            <a:pPr algn="l">
              <a:buNone/>
              <a:defRPr sz="3900" b="1">
                <a:solidFill>
                  <a:srgbClr val="E9496E"/>
                </a:solidFill>
                <a:latin typeface="Calibri"/>
                <a:ea typeface="Calibri"/>
                <a:cs typeface="Calibri"/>
              </a:defRPr>
            </a:pPr>
            <a:r>
              <a:rPr sz="3900" b="1">
                <a:solidFill>
                  <a:srgbClr val="E9496E"/>
                </a:solidFill>
                <a:latin typeface="Calibri"/>
                <a:ea typeface="Calibri"/>
                <a:cs typeface="Calibri"/>
              </a:rPr>
              <a:t>KI-REIHE</a:t>
            </a:r>
          </a:p>
        </p:txBody>
      </p:sp>
      <p:sp>
        <p:nvSpPr>
          <p:cNvPr id="20" name="Greifbare Informationen">
            <a:extLst>
              <a:ext uri="{FF2B5EF4-FFF2-40B4-BE49-F238E27FC236}">
                <a16:creationId xmlns:a16="http://schemas.microsoft.com/office/drawing/2014/main" id="{88178836-5E4E-417B-8384-A83A6947E8A2}"/>
              </a:ext>
            </a:extLst>
          </p:cNvPr>
          <p:cNvSpPr>
            <a:spLocks noGrp="1"/>
          </p:cNvSpPr>
          <p:nvPr/>
        </p:nvSpPr>
        <p:spPr>
          <a:xfrm>
            <a:off x="6419850" y="1524000"/>
            <a:ext cx="5286375" cy="523875"/>
          </a:xfrm>
          <a:prstGeom prst="rect">
            <a:avLst/>
          </a:prstGeom>
          <a:noFill/>
          <a:ln w="0">
            <a:noFill/>
          </a:ln>
        </p:spPr>
        <p:txBody>
          <a:bodyPr anchor="t">
            <a:noAutofit/>
          </a:bodyPr>
          <a:lstStyle/>
          <a:p>
            <a:pPr algn="l">
              <a:buNone/>
              <a:defRPr sz="2625" b="1">
                <a:solidFill>
                  <a:srgbClr val="6C66AC"/>
                </a:solidFill>
                <a:latin typeface="Calibri"/>
                <a:ea typeface="Calibri"/>
                <a:cs typeface="Calibri"/>
              </a:defRPr>
            </a:pPr>
            <a:r>
              <a:rPr sz="2625" b="1">
                <a:solidFill>
                  <a:srgbClr val="6C66AC"/>
                </a:solidFill>
                <a:latin typeface="Calibri"/>
                <a:ea typeface="Calibri"/>
                <a:cs typeface="Calibri"/>
              </a:rPr>
              <a:t>Greifbare Informationen</a:t>
            </a:r>
          </a:p>
        </p:txBody>
      </p:sp>
      <p:sp>
        <p:nvSpPr>
          <p:cNvPr id="21" name="Kompakt und verständlich">
            <a:extLst>
              <a:ext uri="{FF2B5EF4-FFF2-40B4-BE49-F238E27FC236}">
                <a16:creationId xmlns:a16="http://schemas.microsoft.com/office/drawing/2014/main" id="{38371204-ABC4-4AF3-9DB2-7B4AACF7B896}"/>
              </a:ext>
            </a:extLst>
          </p:cNvPr>
          <p:cNvSpPr>
            <a:spLocks noGrp="1"/>
          </p:cNvSpPr>
          <p:nvPr/>
        </p:nvSpPr>
        <p:spPr>
          <a:xfrm>
            <a:off x="6419850" y="2095500"/>
            <a:ext cx="5286375" cy="428625"/>
          </a:xfrm>
          <a:prstGeom prst="rect">
            <a:avLst/>
          </a:prstGeom>
          <a:noFill/>
          <a:ln w="0">
            <a:noFill/>
          </a:ln>
        </p:spPr>
        <p:txBody>
          <a:bodyPr anchor="t">
            <a:noAutofit/>
          </a:bodyPr>
          <a:lstStyle/>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Kompakt und verständlich</a:t>
            </a:r>
          </a:p>
        </p:txBody>
      </p:sp>
      <p:sp>
        <p:nvSpPr>
          <p:cNvPr id="22" name="Ansätze für Ihre Branche">
            <a:extLst>
              <a:ext uri="{FF2B5EF4-FFF2-40B4-BE49-F238E27FC236}">
                <a16:creationId xmlns:a16="http://schemas.microsoft.com/office/drawing/2014/main" id="{2E1EB96C-0FEA-407B-9BC6-D73024F4A34C}"/>
              </a:ext>
            </a:extLst>
          </p:cNvPr>
          <p:cNvSpPr>
            <a:spLocks noGrp="1"/>
          </p:cNvSpPr>
          <p:nvPr/>
        </p:nvSpPr>
        <p:spPr>
          <a:xfrm>
            <a:off x="6419850" y="3095625"/>
            <a:ext cx="5286375" cy="523875"/>
          </a:xfrm>
          <a:prstGeom prst="rect">
            <a:avLst/>
          </a:prstGeom>
          <a:noFill/>
          <a:ln w="0">
            <a:noFill/>
          </a:ln>
        </p:spPr>
        <p:txBody>
          <a:bodyPr anchor="t">
            <a:noAutofit/>
          </a:bodyPr>
          <a:lstStyle/>
          <a:p>
            <a:pPr algn="l">
              <a:buNone/>
              <a:defRPr sz="2625" b="1">
                <a:solidFill>
                  <a:srgbClr val="6C66AC"/>
                </a:solidFill>
                <a:latin typeface="Calibri"/>
                <a:ea typeface="Calibri"/>
                <a:cs typeface="Calibri"/>
              </a:defRPr>
            </a:pPr>
            <a:r>
              <a:rPr sz="2625" b="1">
                <a:solidFill>
                  <a:srgbClr val="6C66AC"/>
                </a:solidFill>
                <a:latin typeface="Calibri"/>
                <a:ea typeface="Calibri"/>
                <a:cs typeface="Calibri"/>
              </a:rPr>
              <a:t>Ansätze für Ihre Branche</a:t>
            </a:r>
          </a:p>
        </p:txBody>
      </p:sp>
      <p:sp>
        <p:nvSpPr>
          <p:cNvPr id="23" name="Mit Bezug zum eigenen Betrieb">
            <a:extLst>
              <a:ext uri="{FF2B5EF4-FFF2-40B4-BE49-F238E27FC236}">
                <a16:creationId xmlns:a16="http://schemas.microsoft.com/office/drawing/2014/main" id="{D7E4E720-7AF4-44FF-8C79-C986D14190F9}"/>
              </a:ext>
            </a:extLst>
          </p:cNvPr>
          <p:cNvSpPr>
            <a:spLocks noGrp="1"/>
          </p:cNvSpPr>
          <p:nvPr/>
        </p:nvSpPr>
        <p:spPr>
          <a:xfrm>
            <a:off x="6419850" y="3667125"/>
            <a:ext cx="5286375" cy="428625"/>
          </a:xfrm>
          <a:prstGeom prst="rect">
            <a:avLst/>
          </a:prstGeom>
          <a:noFill/>
          <a:ln w="0">
            <a:noFill/>
          </a:ln>
        </p:spPr>
        <p:txBody>
          <a:bodyPr anchor="t">
            <a:noAutofit/>
          </a:bodyPr>
          <a:lstStyle/>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Mit Bezug zum eigenen Betrieb</a:t>
            </a:r>
          </a:p>
        </p:txBody>
      </p:sp>
      <p:sp>
        <p:nvSpPr>
          <p:cNvPr id="24" name="Austausch in der Region">
            <a:extLst>
              <a:ext uri="{FF2B5EF4-FFF2-40B4-BE49-F238E27FC236}">
                <a16:creationId xmlns:a16="http://schemas.microsoft.com/office/drawing/2014/main" id="{8D8FCE52-BD59-417A-8A3F-EF26D955B6C7}"/>
              </a:ext>
            </a:extLst>
          </p:cNvPr>
          <p:cNvSpPr>
            <a:spLocks noGrp="1"/>
          </p:cNvSpPr>
          <p:nvPr/>
        </p:nvSpPr>
        <p:spPr>
          <a:xfrm>
            <a:off x="6419850" y="4667250"/>
            <a:ext cx="5286375" cy="523875"/>
          </a:xfrm>
          <a:prstGeom prst="rect">
            <a:avLst/>
          </a:prstGeom>
          <a:noFill/>
          <a:ln w="0">
            <a:noFill/>
          </a:ln>
        </p:spPr>
        <p:txBody>
          <a:bodyPr anchor="t">
            <a:noAutofit/>
          </a:bodyPr>
          <a:lstStyle/>
          <a:p>
            <a:pPr algn="l">
              <a:buNone/>
              <a:defRPr sz="2625" b="1">
                <a:solidFill>
                  <a:srgbClr val="6C66AC"/>
                </a:solidFill>
                <a:latin typeface="Calibri"/>
                <a:ea typeface="Calibri"/>
                <a:cs typeface="Calibri"/>
              </a:defRPr>
            </a:pPr>
            <a:r>
              <a:rPr sz="2625" b="1">
                <a:solidFill>
                  <a:srgbClr val="6C66AC"/>
                </a:solidFill>
                <a:latin typeface="Calibri"/>
                <a:ea typeface="Calibri"/>
                <a:cs typeface="Calibri"/>
              </a:rPr>
              <a:t>Austausch in der Region</a:t>
            </a:r>
          </a:p>
        </p:txBody>
      </p:sp>
      <p:sp>
        <p:nvSpPr>
          <p:cNvPr id="25" name="Erfahrungen teilen und Unterstützung finden">
            <a:extLst>
              <a:ext uri="{FF2B5EF4-FFF2-40B4-BE49-F238E27FC236}">
                <a16:creationId xmlns:a16="http://schemas.microsoft.com/office/drawing/2014/main" id="{DD5086B0-4AD4-4D67-8584-845BE86C1FE5}"/>
              </a:ext>
            </a:extLst>
          </p:cNvPr>
          <p:cNvSpPr>
            <a:spLocks noGrp="1"/>
          </p:cNvSpPr>
          <p:nvPr/>
        </p:nvSpPr>
        <p:spPr>
          <a:xfrm>
            <a:off x="6419850" y="5238750"/>
            <a:ext cx="5286375" cy="857250"/>
          </a:xfrm>
          <a:prstGeom prst="rect">
            <a:avLst/>
          </a:prstGeom>
          <a:noFill/>
          <a:ln w="0">
            <a:noFill/>
          </a:ln>
        </p:spPr>
        <p:txBody>
          <a:bodyPr anchor="t">
            <a:noAutofit/>
          </a:bodyPr>
          <a:lstStyle/>
          <a:p>
            <a:pPr algn="l">
              <a:buNone/>
              <a:defRPr sz="2250" b="0">
                <a:solidFill>
                  <a:srgbClr val="000000"/>
                </a:solidFill>
                <a:latin typeface="Calibri"/>
                <a:ea typeface="Calibri"/>
                <a:cs typeface="Calibri"/>
              </a:defRPr>
            </a:pPr>
            <a:r>
              <a:rPr sz="2250" b="0">
                <a:solidFill>
                  <a:srgbClr val="000000"/>
                </a:solidFill>
                <a:latin typeface="Calibri"/>
                <a:ea typeface="Calibri"/>
                <a:cs typeface="Calibri"/>
              </a:rPr>
              <a:t>Erfahrungen teilen und Unterstützung finden</a:t>
            </a:r>
          </a:p>
        </p:txBody>
      </p:sp>
      <p:pic>
        <p:nvPicPr>
          <p:cNvPr id="39" name="Grafik 38"/>
          <p:cNvPicPr>
            <a:picLocks noChangeAspect="1"/>
          </p:cNvPicPr>
          <p:nvPr/>
        </p:nvPicPr>
        <p:blipFill>
          <a:blip r:embed="rId3"/>
          <a:stretch/>
        </p:blipFill>
        <p:spPr>
          <a:xfrm>
            <a:off x="10391974" y="0"/>
            <a:ext cx="1800018" cy="1126427"/>
          </a:xfrm>
          <a:prstGeom prst="rect">
            <a:avLst/>
          </a:prstGeom>
        </p:spPr>
      </p:pic>
    </p:spTree>
    <p:extLst>
      <p:ext uri="{BB962C8B-B14F-4D97-AF65-F5344CB8AC3E}">
        <p14:creationId xmlns:p14="http://schemas.microsoft.com/office/powerpoint/2010/main" val="127980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CF7FE1C-8BC5-4B0C-A2BC-93AB72C90FDD}"/>
              </a:ext>
            </a:extLst>
          </p:cNvPr>
          <p:cNvSpPr>
            <a:spLocks noGrp="1"/>
          </p:cNvSpPr>
          <p:nvPr/>
        </p:nvSpPr>
        <p:spPr>
          <a:xfrm>
            <a:off x="1782849"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a:noFill/>
            <a:prstDash val="solid"/>
          </a:ln>
        </p:spPr>
        <p:txBody>
          <a:bodyPr wrap="square" anchor="ctr">
            <a:noAutofit/>
          </a:bodyPr>
          <a:lstStyle/>
          <a:p>
            <a:endParaRPr/>
          </a:p>
        </p:txBody>
      </p:sp>
      <p:sp>
        <p:nvSpPr>
          <p:cNvPr id="9" name="Grafik 4">
            <a:extLst>
              <a:ext uri="{FF2B5EF4-FFF2-40B4-BE49-F238E27FC236}">
                <a16:creationId xmlns:a16="http://schemas.microsoft.com/office/drawing/2014/main" id="{D4C0921D-28F9-64DE-3702-6F750DBEA182}"/>
              </a:ext>
            </a:extLst>
          </p:cNvPr>
          <p:cNvSpPr>
            <a:spLocks noGrp="1"/>
          </p:cNvSpPr>
          <p:nvPr/>
        </p:nvSpPr>
        <p:spPr>
          <a:xfrm>
            <a:off x="2677063" y="950984"/>
            <a:ext cx="1247058" cy="1452741"/>
          </a:xfrm>
          <a:custGeom>
            <a:avLst/>
            <a:gdLst>
              <a:gd name="connsiteX0" fmla="*/ 678594 w 1247058"/>
              <a:gd name="connsiteY0" fmla="*/ 1452742 h 1452741"/>
              <a:gd name="connsiteX1" fmla="*/ 0 w 1247058"/>
              <a:gd name="connsiteY1" fmla="*/ 1452742 h 1452741"/>
              <a:gd name="connsiteX2" fmla="*/ 568464 w 1247058"/>
              <a:gd name="connsiteY2" fmla="*/ 726371 h 1452741"/>
              <a:gd name="connsiteX3" fmla="*/ 0 w 1247058"/>
              <a:gd name="connsiteY3" fmla="*/ 0 h 1452741"/>
              <a:gd name="connsiteX4" fmla="*/ 678594 w 1247058"/>
              <a:gd name="connsiteY4" fmla="*/ 0 h 1452741"/>
              <a:gd name="connsiteX5" fmla="*/ 1247058 w 1247058"/>
              <a:gd name="connsiteY5" fmla="*/ 726371 h 1452741"/>
              <a:gd name="connsiteX6" fmla="*/ 678594 w 1247058"/>
              <a:gd name="connsiteY6" fmla="*/ 1452742 h 1452741"/>
            </a:gdLst>
            <a:ahLst/>
            <a:cxnLst/>
            <a:rect l="l" t="t" r="r" b="b"/>
            <a:pathLst>
              <a:path w="1247058" h="1452741">
                <a:moveTo>
                  <a:pt x="678594" y="1452742"/>
                </a:moveTo>
                <a:lnTo>
                  <a:pt x="0" y="1452742"/>
                </a:lnTo>
                <a:lnTo>
                  <a:pt x="568464" y="726371"/>
                </a:lnTo>
                <a:lnTo>
                  <a:pt x="0" y="0"/>
                </a:lnTo>
                <a:lnTo>
                  <a:pt x="678594" y="0"/>
                </a:lnTo>
                <a:lnTo>
                  <a:pt x="1247058" y="726371"/>
                </a:lnTo>
                <a:lnTo>
                  <a:pt x="678594" y="1452742"/>
                </a:lnTo>
                <a:close/>
              </a:path>
            </a:pathLst>
          </a:custGeom>
          <a:solidFill>
            <a:srgbClr val="6C66AC"/>
          </a:solidFill>
          <a:ln w="40386">
            <a:noFill/>
            <a:prstDash val="solid"/>
          </a:ln>
        </p:spPr>
        <p:txBody>
          <a:bodyPr anchor="ctr"/>
          <a:lstStyle/>
          <a:p>
            <a:endParaRPr/>
          </a:p>
        </p:txBody>
      </p:sp>
      <p:sp>
        <p:nvSpPr>
          <p:cNvPr id="12" name="Grafik 2">
            <a:extLst>
              <a:ext uri="{FF2B5EF4-FFF2-40B4-BE49-F238E27FC236}">
                <a16:creationId xmlns:a16="http://schemas.microsoft.com/office/drawing/2014/main" id="{93FB8B2E-BFB5-5BC6-729A-5C3628818683}"/>
              </a:ext>
            </a:extLst>
          </p:cNvPr>
          <p:cNvSpPr>
            <a:spLocks noGrp="1"/>
          </p:cNvSpPr>
          <p:nvPr/>
        </p:nvSpPr>
        <p:spPr>
          <a:xfrm>
            <a:off x="1000125" y="5191125"/>
            <a:ext cx="595884" cy="694182"/>
          </a:xfrm>
          <a:custGeom>
            <a:avLst/>
            <a:gdLst>
              <a:gd name="connsiteX0" fmla="*/ 678594 w 1247058"/>
              <a:gd name="connsiteY0" fmla="*/ 1452742 h 1452742"/>
              <a:gd name="connsiteX1" fmla="*/ 0 w 1247058"/>
              <a:gd name="connsiteY1" fmla="*/ 1452742 h 1452742"/>
              <a:gd name="connsiteX2" fmla="*/ 568464 w 1247058"/>
              <a:gd name="connsiteY2" fmla="*/ 726371 h 1452742"/>
              <a:gd name="connsiteX3" fmla="*/ 0 w 1247058"/>
              <a:gd name="connsiteY3" fmla="*/ 0 h 1452742"/>
              <a:gd name="connsiteX4" fmla="*/ 678594 w 1247058"/>
              <a:gd name="connsiteY4" fmla="*/ 0 h 1452742"/>
              <a:gd name="connsiteX5" fmla="*/ 1247059 w 1247058"/>
              <a:gd name="connsiteY5" fmla="*/ 726371 h 1452742"/>
              <a:gd name="connsiteX6" fmla="*/ 678594 w 1247058"/>
              <a:gd name="connsiteY6" fmla="*/ 1452742 h 1452742"/>
            </a:gdLst>
            <a:ahLst/>
            <a:cxnLst/>
            <a:rect l="l" t="t" r="r" b="b"/>
            <a:pathLst>
              <a:path w="1247058" h="1452742">
                <a:moveTo>
                  <a:pt x="678594" y="1452742"/>
                </a:moveTo>
                <a:lnTo>
                  <a:pt x="0" y="1452742"/>
                </a:lnTo>
                <a:lnTo>
                  <a:pt x="568464" y="726371"/>
                </a:lnTo>
                <a:lnTo>
                  <a:pt x="0" y="0"/>
                </a:lnTo>
                <a:lnTo>
                  <a:pt x="678594" y="0"/>
                </a:lnTo>
                <a:lnTo>
                  <a:pt x="1247059" y="726371"/>
                </a:lnTo>
                <a:lnTo>
                  <a:pt x="678594" y="1452742"/>
                </a:lnTo>
                <a:close/>
              </a:path>
            </a:pathLst>
          </a:custGeom>
          <a:solidFill>
            <a:srgbClr val="6C66AC"/>
          </a:solidFill>
          <a:ln w="40386">
            <a:noFill/>
            <a:prstDash val="solid"/>
          </a:ln>
        </p:spPr>
        <p:txBody>
          <a:bodyPr anchor="ctr"/>
          <a:lstStyle/>
          <a:p>
            <a:endParaRPr/>
          </a:p>
        </p:txBody>
      </p:sp>
      <p:sp>
        <p:nvSpPr>
          <p:cNvPr id="10" name="Grafik 10">
            <a:extLst>
              <a:ext uri="{FF2B5EF4-FFF2-40B4-BE49-F238E27FC236}">
                <a16:creationId xmlns:a16="http://schemas.microsoft.com/office/drawing/2014/main" id="{21B0CE7D-22D5-FD81-EC6F-D876EA605AB1}"/>
              </a:ext>
            </a:extLst>
          </p:cNvPr>
          <p:cNvSpPr>
            <a:spLocks noGrp="1"/>
          </p:cNvSpPr>
          <p:nvPr/>
        </p:nvSpPr>
        <p:spPr>
          <a:xfrm>
            <a:off x="3195559" y="4846685"/>
            <a:ext cx="1242650" cy="1447607"/>
          </a:xfrm>
          <a:custGeom>
            <a:avLst/>
            <a:gdLst>
              <a:gd name="connsiteX0" fmla="*/ 676196 w 1242650"/>
              <a:gd name="connsiteY0" fmla="*/ 1447607 h 1447607"/>
              <a:gd name="connsiteX1" fmla="*/ 0 w 1242650"/>
              <a:gd name="connsiteY1" fmla="*/ 1447607 h 1447607"/>
              <a:gd name="connsiteX2" fmla="*/ 566455 w 1242650"/>
              <a:gd name="connsiteY2" fmla="*/ 723804 h 1447607"/>
              <a:gd name="connsiteX3" fmla="*/ 0 w 1242650"/>
              <a:gd name="connsiteY3" fmla="*/ 0 h 1447607"/>
              <a:gd name="connsiteX4" fmla="*/ 676196 w 1242650"/>
              <a:gd name="connsiteY4" fmla="*/ 0 h 1447607"/>
              <a:gd name="connsiteX5" fmla="*/ 1242651 w 1242650"/>
              <a:gd name="connsiteY5" fmla="*/ 723804 h 1447607"/>
              <a:gd name="connsiteX6" fmla="*/ 676196 w 1242650"/>
              <a:gd name="connsiteY6" fmla="*/ 1447607 h 1447607"/>
            </a:gdLst>
            <a:ahLst/>
            <a:cxnLst/>
            <a:rect l="l" t="t" r="r" b="b"/>
            <a:pathLst>
              <a:path w="1242650" h="1447607">
                <a:moveTo>
                  <a:pt x="676196" y="1447607"/>
                </a:moveTo>
                <a:lnTo>
                  <a:pt x="0" y="1447607"/>
                </a:lnTo>
                <a:lnTo>
                  <a:pt x="566455" y="723804"/>
                </a:lnTo>
                <a:lnTo>
                  <a:pt x="0" y="0"/>
                </a:lnTo>
                <a:lnTo>
                  <a:pt x="676196" y="0"/>
                </a:lnTo>
                <a:lnTo>
                  <a:pt x="1242651" y="723804"/>
                </a:lnTo>
                <a:lnTo>
                  <a:pt x="676196" y="1447607"/>
                </a:lnTo>
                <a:close/>
              </a:path>
            </a:pathLst>
          </a:custGeom>
          <a:solidFill>
            <a:srgbClr val="6C66AC"/>
          </a:solidFill>
          <a:ln w="40196">
            <a:noFill/>
            <a:prstDash val="solid"/>
          </a:ln>
        </p:spPr>
        <p:txBody>
          <a:bodyPr anchor="ctr"/>
          <a:lstStyle/>
          <a:p>
            <a:endParaRPr/>
          </a:p>
        </p:txBody>
      </p:sp>
      <p:sp>
        <p:nvSpPr>
          <p:cNvPr id="7" name="Grafik 27">
            <a:extLst>
              <a:ext uri="{FF2B5EF4-FFF2-40B4-BE49-F238E27FC236}">
                <a16:creationId xmlns:a16="http://schemas.microsoft.com/office/drawing/2014/main" id="{B31C118B-C558-45A9-C6B0-FC08038E2F4C}"/>
              </a:ext>
            </a:extLst>
          </p:cNvPr>
          <p:cNvSpPr>
            <a:spLocks noGrp="1"/>
          </p:cNvSpPr>
          <p:nvPr/>
        </p:nvSpPr>
        <p:spPr>
          <a:xfrm>
            <a:off x="5381625" y="2990850"/>
            <a:ext cx="952500" cy="1114425"/>
          </a:xfrm>
          <a:custGeom>
            <a:avLst/>
            <a:gdLst>
              <a:gd name="connsiteX0" fmla="*/ 592743 w 1089288"/>
              <a:gd name="connsiteY0" fmla="*/ 1268950 h 1268949"/>
              <a:gd name="connsiteX1" fmla="*/ 0 w 1089288"/>
              <a:gd name="connsiteY1" fmla="*/ 1268950 h 1268949"/>
              <a:gd name="connsiteX2" fmla="*/ 496546 w 1089288"/>
              <a:gd name="connsiteY2" fmla="*/ 634475 h 1268949"/>
              <a:gd name="connsiteX3" fmla="*/ 0 w 1089288"/>
              <a:gd name="connsiteY3" fmla="*/ 0 h 1268949"/>
              <a:gd name="connsiteX4" fmla="*/ 592743 w 1089288"/>
              <a:gd name="connsiteY4" fmla="*/ 0 h 1268949"/>
              <a:gd name="connsiteX5" fmla="*/ 1089288 w 1089288"/>
              <a:gd name="connsiteY5" fmla="*/ 634475 h 1268949"/>
              <a:gd name="connsiteX6" fmla="*/ 592743 w 1089288"/>
              <a:gd name="connsiteY6" fmla="*/ 1268950 h 1268949"/>
            </a:gdLst>
            <a:ahLst/>
            <a:cxnLst/>
            <a:rect l="l" t="t" r="r" b="b"/>
            <a:pathLst>
              <a:path w="1089288" h="1268949">
                <a:moveTo>
                  <a:pt x="592743" y="1268950"/>
                </a:moveTo>
                <a:lnTo>
                  <a:pt x="0" y="1268950"/>
                </a:lnTo>
                <a:lnTo>
                  <a:pt x="496546" y="634475"/>
                </a:lnTo>
                <a:lnTo>
                  <a:pt x="0" y="0"/>
                </a:lnTo>
                <a:lnTo>
                  <a:pt x="592743" y="0"/>
                </a:lnTo>
                <a:lnTo>
                  <a:pt x="1089288" y="634475"/>
                </a:lnTo>
                <a:lnTo>
                  <a:pt x="592743" y="1268950"/>
                </a:lnTo>
                <a:close/>
              </a:path>
            </a:pathLst>
          </a:custGeom>
          <a:solidFill>
            <a:srgbClr val="41B6A3"/>
          </a:solidFill>
          <a:ln w="35243">
            <a:noFill/>
            <a:prstDash val="solid"/>
          </a:ln>
        </p:spPr>
        <p:txBody>
          <a:bodyPr anchor="ctr"/>
          <a:lstStyle/>
          <a:p>
            <a:endParaRPr/>
          </a:p>
        </p:txBody>
      </p:sp>
      <p:pic>
        <p:nvPicPr>
          <p:cNvPr id="41" name="Grafik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91997" y="0"/>
            <a:ext cx="1800003" cy="1126417"/>
          </a:xfrm>
          <a:prstGeom prst="rect">
            <a:avLst/>
          </a:prstGeom>
        </p:spPr>
      </p:pic>
      <p:sp>
        <p:nvSpPr>
          <p:cNvPr id="27" name="EXPERTEN">
            <a:extLst>
              <a:ext uri="{FF2B5EF4-FFF2-40B4-BE49-F238E27FC236}">
                <a16:creationId xmlns:a16="http://schemas.microsoft.com/office/drawing/2014/main" id="{9F5FDFA9-AC4D-47F6-96E6-46AED4E10096}"/>
              </a:ext>
            </a:extLst>
          </p:cNvPr>
          <p:cNvSpPr>
            <a:spLocks noGrp="1"/>
          </p:cNvSpPr>
          <p:nvPr/>
        </p:nvSpPr>
        <p:spPr>
          <a:xfrm>
            <a:off x="619125" y="2743200"/>
            <a:ext cx="4524375" cy="1762125"/>
          </a:xfrm>
          <a:prstGeom prst="rect">
            <a:avLst/>
          </a:prstGeom>
          <a:noFill/>
          <a:ln w="0">
            <a:noFill/>
          </a:ln>
        </p:spPr>
        <p:txBody>
          <a:bodyPr anchor="t">
            <a:noAutofit/>
          </a:bodyPr>
          <a:lstStyle/>
          <a:p>
            <a:pPr algn="l">
              <a:buNone/>
              <a:defRPr sz="3600" b="1">
                <a:solidFill>
                  <a:srgbClr val="6C66AC"/>
                </a:solidFill>
                <a:latin typeface="Calibri"/>
                <a:ea typeface="Calibri"/>
                <a:cs typeface="Calibri"/>
              </a:defRPr>
            </a:pPr>
            <a:r>
              <a:rPr sz="3600" b="1">
                <a:solidFill>
                  <a:srgbClr val="6C66AC"/>
                </a:solidFill>
                <a:latin typeface="Calibri"/>
                <a:ea typeface="Calibri"/>
                <a:cs typeface="Calibri"/>
              </a:rPr>
              <a:t>EXPERTEN</a:t>
            </a:r>
          </a:p>
          <a:p>
            <a:pPr algn="l">
              <a:buNone/>
              <a:defRPr sz="3600" b="1">
                <a:solidFill>
                  <a:srgbClr val="6C66AC"/>
                </a:solidFill>
                <a:latin typeface="Calibri"/>
                <a:ea typeface="Calibri"/>
                <a:cs typeface="Calibri"/>
              </a:defRPr>
            </a:pPr>
            <a:r>
              <a:rPr sz="3600" b="1">
                <a:solidFill>
                  <a:srgbClr val="6C66AC"/>
                </a:solidFill>
                <a:latin typeface="Calibri"/>
                <a:ea typeface="Calibri"/>
                <a:cs typeface="Calibri"/>
              </a:rPr>
              <a:t>UNSERER</a:t>
            </a:r>
          </a:p>
          <a:p>
            <a:pPr algn="l">
              <a:buNone/>
              <a:defRPr sz="3600" b="1">
                <a:solidFill>
                  <a:srgbClr val="6C66AC"/>
                </a:solidFill>
                <a:latin typeface="Calibri"/>
                <a:ea typeface="Calibri"/>
                <a:cs typeface="Calibri"/>
              </a:defRPr>
            </a:pPr>
            <a:r>
              <a:rPr sz="3600" b="1">
                <a:solidFill>
                  <a:srgbClr val="6C66AC"/>
                </a:solidFill>
                <a:latin typeface="Calibri"/>
                <a:ea typeface="Calibri"/>
                <a:cs typeface="Calibri"/>
              </a:rPr>
              <a:t>KI-REIHE</a:t>
            </a:r>
          </a:p>
        </p:txBody>
      </p:sp>
      <p:sp>
        <p:nvSpPr>
          <p:cNvPr id="28" name="Frank Winkler">
            <a:extLst>
              <a:ext uri="{FF2B5EF4-FFF2-40B4-BE49-F238E27FC236}">
                <a16:creationId xmlns:a16="http://schemas.microsoft.com/office/drawing/2014/main" id="{E0961203-948E-4B97-9373-11904D69227B}"/>
              </a:ext>
            </a:extLst>
          </p:cNvPr>
          <p:cNvSpPr>
            <a:spLocks noGrp="1"/>
          </p:cNvSpPr>
          <p:nvPr/>
        </p:nvSpPr>
        <p:spPr>
          <a:xfrm>
            <a:off x="6953250" y="1126417"/>
            <a:ext cx="4762500" cy="457200"/>
          </a:xfrm>
          <a:prstGeom prst="rect">
            <a:avLst/>
          </a:prstGeom>
          <a:noFill/>
          <a:ln w="0">
            <a:noFill/>
          </a:ln>
        </p:spPr>
        <p:txBody>
          <a:bodyPr anchor="t">
            <a:noAutofit/>
          </a:bodyPr>
          <a:lstStyle/>
          <a:p>
            <a:pPr algn="l">
              <a:buNone/>
              <a:defRPr sz="2700" b="1">
                <a:solidFill>
                  <a:srgbClr val="00AB97"/>
                </a:solidFill>
                <a:latin typeface="Calibri"/>
                <a:ea typeface="Calibri"/>
                <a:cs typeface="Calibri"/>
              </a:defRPr>
            </a:pPr>
            <a:r>
              <a:rPr sz="2700" b="1" dirty="0">
                <a:solidFill>
                  <a:srgbClr val="00AB97"/>
                </a:solidFill>
                <a:latin typeface="Calibri"/>
                <a:ea typeface="Calibri"/>
                <a:cs typeface="Calibri"/>
              </a:rPr>
              <a:t>Frank Winkler</a:t>
            </a:r>
          </a:p>
        </p:txBody>
      </p:sp>
      <p:sp>
        <p:nvSpPr>
          <p:cNvPr id="29" name="Geschäftsführer">
            <a:extLst>
              <a:ext uri="{FF2B5EF4-FFF2-40B4-BE49-F238E27FC236}">
                <a16:creationId xmlns:a16="http://schemas.microsoft.com/office/drawing/2014/main" id="{4F2720F2-0E02-4D3E-AB38-40DF2B67B2A1}"/>
              </a:ext>
            </a:extLst>
          </p:cNvPr>
          <p:cNvSpPr>
            <a:spLocks noGrp="1"/>
          </p:cNvSpPr>
          <p:nvPr/>
        </p:nvSpPr>
        <p:spPr>
          <a:xfrm>
            <a:off x="6953250" y="1612192"/>
            <a:ext cx="4762500" cy="762000"/>
          </a:xfrm>
          <a:prstGeom prst="rect">
            <a:avLst/>
          </a:prstGeom>
          <a:noFill/>
          <a:ln w="0">
            <a:noFill/>
          </a:ln>
        </p:spPr>
        <p:txBody>
          <a:bodyPr anchor="t">
            <a:noAutofit/>
          </a:bodyPr>
          <a:lstStyle/>
          <a:p>
            <a:pPr algn="l">
              <a:buNone/>
              <a:defRPr sz="2025" b="0">
                <a:solidFill>
                  <a:srgbClr val="000000"/>
                </a:solidFill>
                <a:latin typeface="Calibri"/>
                <a:ea typeface="Calibri"/>
                <a:cs typeface="Calibri"/>
              </a:defRPr>
            </a:pPr>
            <a:r>
              <a:rPr sz="2025" b="0" dirty="0" err="1">
                <a:solidFill>
                  <a:srgbClr val="000000"/>
                </a:solidFill>
                <a:latin typeface="Calibri"/>
                <a:ea typeface="Calibri"/>
                <a:cs typeface="Calibri"/>
              </a:rPr>
              <a:t>Geschäftsführer</a:t>
            </a:r>
            <a:endParaRPr sz="2025" b="0" dirty="0">
              <a:solidFill>
                <a:srgbClr val="000000"/>
              </a:solidFill>
              <a:latin typeface="Calibri"/>
              <a:ea typeface="Calibri"/>
              <a:cs typeface="Calibri"/>
            </a:endParaRPr>
          </a:p>
          <a:p>
            <a:pPr algn="l">
              <a:buNone/>
              <a:defRPr sz="2025" b="0">
                <a:solidFill>
                  <a:srgbClr val="000000"/>
                </a:solidFill>
                <a:latin typeface="Calibri"/>
                <a:ea typeface="Calibri"/>
                <a:cs typeface="Calibri"/>
              </a:defRPr>
            </a:pPr>
            <a:r>
              <a:rPr sz="2025" b="0" dirty="0">
                <a:solidFill>
                  <a:srgbClr val="000000"/>
                </a:solidFill>
                <a:latin typeface="Calibri"/>
                <a:ea typeface="Calibri"/>
                <a:cs typeface="Calibri"/>
              </a:rPr>
              <a:t>mobilplus Systemhaus GmbH</a:t>
            </a:r>
          </a:p>
        </p:txBody>
      </p:sp>
      <p:sp>
        <p:nvSpPr>
          <p:cNvPr id="30" name="Bastian Rehbein">
            <a:extLst>
              <a:ext uri="{FF2B5EF4-FFF2-40B4-BE49-F238E27FC236}">
                <a16:creationId xmlns:a16="http://schemas.microsoft.com/office/drawing/2014/main" id="{1941B738-432B-4EDA-A297-E1ADCEE2F4D1}"/>
              </a:ext>
            </a:extLst>
          </p:cNvPr>
          <p:cNvSpPr>
            <a:spLocks noGrp="1"/>
          </p:cNvSpPr>
          <p:nvPr/>
        </p:nvSpPr>
        <p:spPr>
          <a:xfrm>
            <a:off x="6953250" y="2507542"/>
            <a:ext cx="4762500" cy="457200"/>
          </a:xfrm>
          <a:prstGeom prst="rect">
            <a:avLst/>
          </a:prstGeom>
          <a:noFill/>
          <a:ln w="0">
            <a:noFill/>
          </a:ln>
        </p:spPr>
        <p:txBody>
          <a:bodyPr anchor="t">
            <a:noAutofit/>
          </a:bodyPr>
          <a:lstStyle/>
          <a:p>
            <a:pPr algn="l">
              <a:buNone/>
              <a:defRPr sz="2700" b="1">
                <a:solidFill>
                  <a:srgbClr val="00AB97"/>
                </a:solidFill>
                <a:latin typeface="Calibri"/>
                <a:ea typeface="Calibri"/>
                <a:cs typeface="Calibri"/>
              </a:defRPr>
            </a:pPr>
            <a:r>
              <a:rPr sz="2700" b="1" dirty="0">
                <a:solidFill>
                  <a:srgbClr val="00AB97"/>
                </a:solidFill>
                <a:latin typeface="Calibri"/>
                <a:ea typeface="Calibri"/>
                <a:cs typeface="Calibri"/>
              </a:rPr>
              <a:t>Bastian Rehbein</a:t>
            </a:r>
          </a:p>
        </p:txBody>
      </p:sp>
      <p:sp>
        <p:nvSpPr>
          <p:cNvPr id="31" name="Geschäftsführer">
            <a:extLst>
              <a:ext uri="{FF2B5EF4-FFF2-40B4-BE49-F238E27FC236}">
                <a16:creationId xmlns:a16="http://schemas.microsoft.com/office/drawing/2014/main" id="{E7B73060-5C21-4270-AF03-2DBAC168148C}"/>
              </a:ext>
            </a:extLst>
          </p:cNvPr>
          <p:cNvSpPr>
            <a:spLocks noGrp="1"/>
          </p:cNvSpPr>
          <p:nvPr/>
        </p:nvSpPr>
        <p:spPr>
          <a:xfrm>
            <a:off x="6953250" y="2993317"/>
            <a:ext cx="4762500" cy="762000"/>
          </a:xfrm>
          <a:prstGeom prst="rect">
            <a:avLst/>
          </a:prstGeom>
          <a:noFill/>
          <a:ln w="0">
            <a:noFill/>
          </a:ln>
        </p:spPr>
        <p:txBody>
          <a:bodyPr anchor="t">
            <a:noAutofit/>
          </a:bodyPr>
          <a:lstStyle/>
          <a:p>
            <a:pPr algn="l">
              <a:buNone/>
              <a:defRPr sz="2025" b="0">
                <a:solidFill>
                  <a:srgbClr val="000000"/>
                </a:solidFill>
                <a:latin typeface="Calibri"/>
                <a:ea typeface="Calibri"/>
                <a:cs typeface="Calibri"/>
              </a:defRPr>
            </a:pPr>
            <a:r>
              <a:rPr sz="2025" b="0" dirty="0" err="1">
                <a:solidFill>
                  <a:srgbClr val="000000"/>
                </a:solidFill>
                <a:latin typeface="Calibri"/>
                <a:ea typeface="Calibri"/>
                <a:cs typeface="Calibri"/>
              </a:rPr>
              <a:t>Geschäftsführer</a:t>
            </a:r>
            <a:endParaRPr sz="2025" b="0" dirty="0">
              <a:solidFill>
                <a:srgbClr val="000000"/>
              </a:solidFill>
              <a:latin typeface="Calibri"/>
              <a:ea typeface="Calibri"/>
              <a:cs typeface="Calibri"/>
            </a:endParaRPr>
          </a:p>
          <a:p>
            <a:pPr algn="l">
              <a:buNone/>
              <a:defRPr sz="2025" b="0">
                <a:solidFill>
                  <a:srgbClr val="000000"/>
                </a:solidFill>
                <a:latin typeface="Calibri"/>
                <a:ea typeface="Calibri"/>
                <a:cs typeface="Calibri"/>
              </a:defRPr>
            </a:pPr>
            <a:r>
              <a:rPr sz="2025" b="0" dirty="0" err="1">
                <a:solidFill>
                  <a:srgbClr val="000000"/>
                </a:solidFill>
                <a:latin typeface="Calibri"/>
                <a:ea typeface="Calibri"/>
                <a:cs typeface="Calibri"/>
              </a:rPr>
              <a:t>Blacksand</a:t>
            </a:r>
            <a:r>
              <a:rPr sz="2025" b="0" dirty="0">
                <a:solidFill>
                  <a:srgbClr val="000000"/>
                </a:solidFill>
                <a:latin typeface="Calibri"/>
                <a:ea typeface="Calibri"/>
                <a:cs typeface="Calibri"/>
              </a:rPr>
              <a:t> GmbH</a:t>
            </a:r>
          </a:p>
        </p:txBody>
      </p:sp>
      <p:sp>
        <p:nvSpPr>
          <p:cNvPr id="32" name="Gustav Bieberstein">
            <a:extLst>
              <a:ext uri="{FF2B5EF4-FFF2-40B4-BE49-F238E27FC236}">
                <a16:creationId xmlns:a16="http://schemas.microsoft.com/office/drawing/2014/main" id="{EA5D2D56-4B8F-414E-96FE-275B446A82DE}"/>
              </a:ext>
            </a:extLst>
          </p:cNvPr>
          <p:cNvSpPr>
            <a:spLocks noGrp="1"/>
          </p:cNvSpPr>
          <p:nvPr/>
        </p:nvSpPr>
        <p:spPr>
          <a:xfrm>
            <a:off x="6953250" y="3888667"/>
            <a:ext cx="4762500" cy="457200"/>
          </a:xfrm>
          <a:prstGeom prst="rect">
            <a:avLst/>
          </a:prstGeom>
          <a:noFill/>
          <a:ln w="0">
            <a:noFill/>
          </a:ln>
        </p:spPr>
        <p:txBody>
          <a:bodyPr anchor="t">
            <a:noAutofit/>
          </a:bodyPr>
          <a:lstStyle/>
          <a:p>
            <a:pPr algn="l">
              <a:buNone/>
              <a:defRPr sz="2700" b="1">
                <a:solidFill>
                  <a:srgbClr val="00AB97"/>
                </a:solidFill>
                <a:latin typeface="Calibri"/>
                <a:ea typeface="Calibri"/>
                <a:cs typeface="Calibri"/>
              </a:defRPr>
            </a:pPr>
            <a:r>
              <a:rPr sz="2700" b="1" dirty="0">
                <a:solidFill>
                  <a:srgbClr val="00AB97"/>
                </a:solidFill>
                <a:latin typeface="Calibri"/>
                <a:ea typeface="Calibri"/>
                <a:cs typeface="Calibri"/>
              </a:rPr>
              <a:t>Gustav Bieberstein</a:t>
            </a:r>
          </a:p>
        </p:txBody>
      </p:sp>
      <p:sp>
        <p:nvSpPr>
          <p:cNvPr id="33" name="Business Processes Consultant">
            <a:extLst>
              <a:ext uri="{FF2B5EF4-FFF2-40B4-BE49-F238E27FC236}">
                <a16:creationId xmlns:a16="http://schemas.microsoft.com/office/drawing/2014/main" id="{1FFCB976-DFB9-4189-94C9-E9A3DD2BDDFF}"/>
              </a:ext>
            </a:extLst>
          </p:cNvPr>
          <p:cNvSpPr>
            <a:spLocks noGrp="1"/>
          </p:cNvSpPr>
          <p:nvPr/>
        </p:nvSpPr>
        <p:spPr>
          <a:xfrm>
            <a:off x="6953250" y="4374442"/>
            <a:ext cx="4762500" cy="762000"/>
          </a:xfrm>
          <a:prstGeom prst="rect">
            <a:avLst/>
          </a:prstGeom>
          <a:noFill/>
          <a:ln w="0">
            <a:noFill/>
          </a:ln>
        </p:spPr>
        <p:txBody>
          <a:bodyPr anchor="t">
            <a:noAutofit/>
          </a:bodyPr>
          <a:lstStyle/>
          <a:p>
            <a:pPr>
              <a:defRPr sz="2025" b="0">
                <a:solidFill>
                  <a:srgbClr val="000000"/>
                </a:solidFill>
                <a:latin typeface="Calibri"/>
                <a:ea typeface="Calibri"/>
                <a:cs typeface="Calibri"/>
              </a:defRPr>
            </a:pPr>
            <a:r>
              <a:rPr lang="de-DE" sz="2025" dirty="0">
                <a:solidFill>
                  <a:srgbClr val="000000"/>
                </a:solidFill>
                <a:latin typeface="Calibri"/>
              </a:rPr>
              <a:t>Prozessberater für Fertigung </a:t>
            </a:r>
          </a:p>
          <a:p>
            <a:pPr>
              <a:defRPr sz="2025" b="0">
                <a:solidFill>
                  <a:srgbClr val="000000"/>
                </a:solidFill>
                <a:latin typeface="Calibri"/>
                <a:ea typeface="Calibri"/>
                <a:cs typeface="Calibri"/>
              </a:defRPr>
            </a:pPr>
            <a:r>
              <a:rPr lang="de-DE" sz="2025" dirty="0">
                <a:solidFill>
                  <a:srgbClr val="000000"/>
                </a:solidFill>
                <a:latin typeface="Calibri"/>
              </a:rPr>
              <a:t>und Business-KI</a:t>
            </a:r>
            <a:endParaRPr sz="2025" b="0" dirty="0">
              <a:solidFill>
                <a:srgbClr val="000000"/>
              </a:solidFill>
              <a:latin typeface="Calibri"/>
              <a:ea typeface="Calibri"/>
              <a:cs typeface="Calibri"/>
            </a:endParaRPr>
          </a:p>
        </p:txBody>
      </p:sp>
      <p:sp>
        <p:nvSpPr>
          <p:cNvPr id="34" name="Jetzt zu den Fachbeiträgen">
            <a:extLst>
              <a:ext uri="{FF2B5EF4-FFF2-40B4-BE49-F238E27FC236}">
                <a16:creationId xmlns:a16="http://schemas.microsoft.com/office/drawing/2014/main" id="{2447268C-4C7C-4909-AEBD-540AAE345058}"/>
              </a:ext>
            </a:extLst>
          </p:cNvPr>
          <p:cNvSpPr>
            <a:spLocks noGrp="1"/>
          </p:cNvSpPr>
          <p:nvPr/>
        </p:nvSpPr>
        <p:spPr>
          <a:xfrm>
            <a:off x="6953250" y="6000750"/>
            <a:ext cx="4762500" cy="495300"/>
          </a:xfrm>
          <a:prstGeom prst="rect">
            <a:avLst/>
          </a:prstGeom>
          <a:noFill/>
          <a:ln w="0">
            <a:noFill/>
          </a:ln>
        </p:spPr>
        <p:txBody>
          <a:bodyPr anchor="t">
            <a:noAutofit/>
          </a:bodyPr>
          <a:lstStyle/>
          <a:p>
            <a:pPr algn="l">
              <a:buNone/>
              <a:defRPr sz="2250" b="1">
                <a:solidFill>
                  <a:srgbClr val="E9496E"/>
                </a:solidFill>
                <a:latin typeface="Calibri"/>
                <a:ea typeface="Calibri"/>
                <a:cs typeface="Calibri"/>
              </a:defRPr>
            </a:pPr>
            <a:endParaRPr sz="2250" b="1" dirty="0">
              <a:solidFill>
                <a:srgbClr val="E9496E"/>
              </a:solidFill>
              <a:latin typeface="Calibri"/>
              <a:ea typeface="Calibri"/>
              <a:cs typeface="Calibri"/>
            </a:endParaRPr>
          </a:p>
        </p:txBody>
      </p:sp>
      <p:sp>
        <p:nvSpPr>
          <p:cNvPr id="3" name="Gustav Bieberstein">
            <a:extLst>
              <a:ext uri="{FF2B5EF4-FFF2-40B4-BE49-F238E27FC236}">
                <a16:creationId xmlns:a16="http://schemas.microsoft.com/office/drawing/2014/main" id="{8EB6BD92-DD49-21AE-2E93-3C0A1BD6A28F}"/>
              </a:ext>
            </a:extLst>
          </p:cNvPr>
          <p:cNvSpPr>
            <a:spLocks noGrp="1"/>
          </p:cNvSpPr>
          <p:nvPr/>
        </p:nvSpPr>
        <p:spPr>
          <a:xfrm>
            <a:off x="6994799" y="5205010"/>
            <a:ext cx="4762500" cy="457200"/>
          </a:xfrm>
          <a:prstGeom prst="rect">
            <a:avLst/>
          </a:prstGeom>
          <a:noFill/>
          <a:ln w="0">
            <a:noFill/>
          </a:ln>
        </p:spPr>
        <p:txBody>
          <a:bodyPr anchor="t">
            <a:noAutofit/>
          </a:bodyPr>
          <a:lstStyle/>
          <a:p>
            <a:pPr algn="l">
              <a:buNone/>
              <a:defRPr sz="2700" b="1">
                <a:solidFill>
                  <a:srgbClr val="00AB97"/>
                </a:solidFill>
                <a:latin typeface="Calibri"/>
                <a:ea typeface="Calibri"/>
                <a:cs typeface="Calibri"/>
              </a:defRPr>
            </a:pPr>
            <a:r>
              <a:rPr lang="de-DE" sz="2700" b="1" dirty="0">
                <a:solidFill>
                  <a:srgbClr val="00AB97"/>
                </a:solidFill>
                <a:latin typeface="Calibri"/>
                <a:ea typeface="Calibri"/>
                <a:cs typeface="Calibri"/>
              </a:rPr>
              <a:t>Richard Apelt</a:t>
            </a:r>
            <a:endParaRPr sz="2700" b="1" dirty="0">
              <a:solidFill>
                <a:srgbClr val="00AB97"/>
              </a:solidFill>
              <a:latin typeface="Calibri"/>
              <a:ea typeface="Calibri"/>
              <a:cs typeface="Calibri"/>
            </a:endParaRPr>
          </a:p>
        </p:txBody>
      </p:sp>
      <p:sp>
        <p:nvSpPr>
          <p:cNvPr id="5" name="Business Processes Consultant">
            <a:extLst>
              <a:ext uri="{FF2B5EF4-FFF2-40B4-BE49-F238E27FC236}">
                <a16:creationId xmlns:a16="http://schemas.microsoft.com/office/drawing/2014/main" id="{090CE301-FF69-4402-B320-DBF054168CFD}"/>
              </a:ext>
            </a:extLst>
          </p:cNvPr>
          <p:cNvSpPr>
            <a:spLocks noGrp="1"/>
          </p:cNvSpPr>
          <p:nvPr/>
        </p:nvSpPr>
        <p:spPr>
          <a:xfrm>
            <a:off x="6994799" y="5662210"/>
            <a:ext cx="4762500" cy="762000"/>
          </a:xfrm>
          <a:prstGeom prst="rect">
            <a:avLst/>
          </a:prstGeom>
          <a:noFill/>
          <a:ln w="0">
            <a:noFill/>
          </a:ln>
        </p:spPr>
        <p:txBody>
          <a:bodyPr anchor="t">
            <a:noAutofit/>
          </a:bodyPr>
          <a:lstStyle/>
          <a:p>
            <a:pPr>
              <a:defRPr sz="2025" b="0">
                <a:solidFill>
                  <a:srgbClr val="000000"/>
                </a:solidFill>
                <a:latin typeface="Calibri"/>
                <a:ea typeface="Calibri"/>
                <a:cs typeface="Calibri"/>
              </a:defRPr>
            </a:pPr>
            <a:r>
              <a:rPr lang="de-DE" sz="2025" dirty="0">
                <a:solidFill>
                  <a:srgbClr val="000000"/>
                </a:solidFill>
                <a:latin typeface="Calibri"/>
              </a:rPr>
              <a:t>Geschäftsführer NexxUp</a:t>
            </a:r>
          </a:p>
        </p:txBody>
      </p:sp>
    </p:spTree>
    <p:extLst>
      <p:ext uri="{BB962C8B-B14F-4D97-AF65-F5344CB8AC3E}">
        <p14:creationId xmlns:p14="http://schemas.microsoft.com/office/powerpoint/2010/main" val="2346556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Grafik 10"/>
          <p:cNvPicPr>
            <a:picLocks noChangeAspect="1"/>
          </p:cNvPicPr>
          <p:nvPr/>
        </p:nvPicPr>
        <p:blipFill>
          <a:blip r:embed="rId3"/>
          <a:stretch/>
        </p:blipFill>
        <p:spPr>
          <a:xfrm>
            <a:off x="10391974" y="0"/>
            <a:ext cx="1800018" cy="1126427"/>
          </a:xfrm>
          <a:prstGeom prst="rect">
            <a:avLst/>
          </a:prstGeom>
        </p:spPr>
      </p:pic>
      <p:sp>
        <p:nvSpPr>
          <p:cNvPr id="2" name="DIESE PRÄSENTATION ENTSTAND MIT KI">
            <a:extLst>
              <a:ext uri="{FF2B5EF4-FFF2-40B4-BE49-F238E27FC236}">
                <a16:creationId xmlns:a16="http://schemas.microsoft.com/office/drawing/2014/main" id="{741061BC-BDDD-42A0-8126-C8C224C58C56}"/>
              </a:ext>
            </a:extLst>
          </p:cNvPr>
          <p:cNvSpPr>
            <a:spLocks noGrp="1"/>
          </p:cNvSpPr>
          <p:nvPr/>
        </p:nvSpPr>
        <p:spPr>
          <a:xfrm>
            <a:off x="619125" y="1190625"/>
            <a:ext cx="10858500" cy="666750"/>
          </a:xfrm>
          <a:prstGeom prst="rect">
            <a:avLst/>
          </a:prstGeom>
          <a:noFill/>
          <a:ln w="0">
            <a:noFill/>
          </a:ln>
        </p:spPr>
        <p:txBody>
          <a:bodyPr>
            <a:noAutofit/>
          </a:bodyPr>
          <a:lstStyle/>
          <a:p>
            <a:pPr>
              <a:defRPr sz="3225" b="1">
                <a:solidFill>
                  <a:srgbClr val="6C66AC"/>
                </a:solidFill>
                <a:latin typeface="Calibri"/>
                <a:ea typeface="Calibri"/>
                <a:cs typeface="Calibri"/>
              </a:defRPr>
            </a:pPr>
            <a:r>
              <a:rPr sz="3225" b="1">
                <a:solidFill>
                  <a:srgbClr val="6C66AC"/>
                </a:solidFill>
                <a:latin typeface="Calibri"/>
                <a:ea typeface="Calibri"/>
                <a:cs typeface="Calibri"/>
              </a:rPr>
              <a:t>DIESE PRÄSENTATION ENTSTAND MIT KI</a:t>
            </a:r>
          </a:p>
        </p:txBody>
      </p:sp>
      <p:sp>
        <p:nvSpPr>
          <p:cNvPr id="3" name="Zeitaufwand für die Erstellung">
            <a:extLst>
              <a:ext uri="{FF2B5EF4-FFF2-40B4-BE49-F238E27FC236}">
                <a16:creationId xmlns:a16="http://schemas.microsoft.com/office/drawing/2014/main" id="{B600305B-E756-45DB-8FCB-C4069A6D7DD5}"/>
              </a:ext>
            </a:extLst>
          </p:cNvPr>
          <p:cNvSpPr>
            <a:spLocks noGrp="1"/>
          </p:cNvSpPr>
          <p:nvPr/>
        </p:nvSpPr>
        <p:spPr>
          <a:xfrm>
            <a:off x="619125" y="2000250"/>
            <a:ext cx="7000875" cy="476250"/>
          </a:xfrm>
          <a:prstGeom prst="rect">
            <a:avLst/>
          </a:prstGeom>
          <a:noFill/>
          <a:ln w="0">
            <a:noFill/>
          </a:ln>
        </p:spPr>
        <p:txBody>
          <a:bodyPr>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Zeitaufwand für die Erstellung</a:t>
            </a:r>
          </a:p>
        </p:txBody>
      </p:sp>
      <p:graphicFrame>
        <p:nvGraphicFramePr>
          <p:cNvPr id="14" name="Chart"/>
          <p:cNvGraphicFramePr/>
          <p:nvPr/>
        </p:nvGraphicFramePr>
        <p:xfrm>
          <a:off x="571500" y="2809875"/>
          <a:ext cx="714375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5" name="MIT KI">
            <a:extLst>
              <a:ext uri="{FF2B5EF4-FFF2-40B4-BE49-F238E27FC236}">
                <a16:creationId xmlns:a16="http://schemas.microsoft.com/office/drawing/2014/main" id="{8A5DDF3C-A737-4282-A6B4-AE8C6E0FBAFC}"/>
              </a:ext>
            </a:extLst>
          </p:cNvPr>
          <p:cNvSpPr>
            <a:spLocks noGrp="1"/>
          </p:cNvSpPr>
          <p:nvPr/>
        </p:nvSpPr>
        <p:spPr>
          <a:xfrm>
            <a:off x="8429625" y="2505075"/>
            <a:ext cx="3143250" cy="476250"/>
          </a:xfrm>
          <a:prstGeom prst="rect">
            <a:avLst/>
          </a:prstGeom>
          <a:noFill/>
          <a:ln w="0">
            <a:noFill/>
          </a:ln>
        </p:spPr>
        <p:txBody>
          <a:bodyPr>
            <a:noAutofit/>
          </a:bodyPr>
          <a:lstStyle/>
          <a:p>
            <a:pPr>
              <a:defRPr sz="2250" b="1">
                <a:solidFill>
                  <a:srgbClr val="00AB97"/>
                </a:solidFill>
                <a:latin typeface="Calibri"/>
                <a:ea typeface="Calibri"/>
                <a:cs typeface="Calibri"/>
              </a:defRPr>
            </a:pPr>
            <a:r>
              <a:rPr sz="2250" b="1">
                <a:solidFill>
                  <a:srgbClr val="00AB97"/>
                </a:solidFill>
                <a:latin typeface="Calibri"/>
                <a:ea typeface="Calibri"/>
                <a:cs typeface="Calibri"/>
              </a:rPr>
              <a:t>MIT KI</a:t>
            </a:r>
          </a:p>
        </p:txBody>
      </p:sp>
      <p:sp>
        <p:nvSpPr>
          <p:cNvPr id="6" name="ca. 65 min">
            <a:extLst>
              <a:ext uri="{FF2B5EF4-FFF2-40B4-BE49-F238E27FC236}">
                <a16:creationId xmlns:a16="http://schemas.microsoft.com/office/drawing/2014/main" id="{B5CD4A23-F890-4817-86EC-EFFE9086F7A8}"/>
              </a:ext>
            </a:extLst>
          </p:cNvPr>
          <p:cNvSpPr>
            <a:spLocks noGrp="1"/>
          </p:cNvSpPr>
          <p:nvPr/>
        </p:nvSpPr>
        <p:spPr>
          <a:xfrm>
            <a:off x="8429625" y="3086100"/>
            <a:ext cx="3333750" cy="876300"/>
          </a:xfrm>
          <a:prstGeom prst="rect">
            <a:avLst/>
          </a:prstGeom>
          <a:noFill/>
          <a:ln w="0">
            <a:noFill/>
          </a:ln>
        </p:spPr>
        <p:txBody>
          <a:bodyPr>
            <a:noAutofit/>
          </a:bodyPr>
          <a:lstStyle/>
          <a:p>
            <a:pPr>
              <a:defRPr sz="4200" b="1">
                <a:solidFill>
                  <a:srgbClr val="00AB97"/>
                </a:solidFill>
                <a:latin typeface="Calibri"/>
                <a:ea typeface="Calibri"/>
                <a:cs typeface="Calibri"/>
              </a:defRPr>
            </a:pPr>
            <a:r>
              <a:rPr sz="4200" b="1">
                <a:solidFill>
                  <a:srgbClr val="00AB97"/>
                </a:solidFill>
                <a:latin typeface="Calibri"/>
                <a:ea typeface="Calibri"/>
                <a:cs typeface="Calibri"/>
              </a:rPr>
              <a:t>ca. 65 min</a:t>
            </a:r>
          </a:p>
        </p:txBody>
      </p:sp>
      <p:sp>
        <p:nvSpPr>
          <p:cNvPr id="7" name="insgesamt">
            <a:extLst>
              <a:ext uri="{FF2B5EF4-FFF2-40B4-BE49-F238E27FC236}">
                <a16:creationId xmlns:a16="http://schemas.microsoft.com/office/drawing/2014/main" id="{22A229ED-AEAF-4239-811F-82F536F0CA7B}"/>
              </a:ext>
            </a:extLst>
          </p:cNvPr>
          <p:cNvSpPr>
            <a:spLocks noGrp="1"/>
          </p:cNvSpPr>
          <p:nvPr/>
        </p:nvSpPr>
        <p:spPr>
          <a:xfrm>
            <a:off x="8429625" y="3952875"/>
            <a:ext cx="3143250" cy="428625"/>
          </a:xfrm>
          <a:prstGeom prst="rect">
            <a:avLst/>
          </a:prstGeom>
          <a:noFill/>
          <a:ln w="0">
            <a:noFill/>
          </a:ln>
        </p:spPr>
        <p:txBody>
          <a:bodyPr>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insgesamt</a:t>
            </a:r>
          </a:p>
        </p:txBody>
      </p:sp>
      <p:sp>
        <p:nvSpPr>
          <p:cNvPr id="8" name="OHNE KI">
            <a:extLst>
              <a:ext uri="{FF2B5EF4-FFF2-40B4-BE49-F238E27FC236}">
                <a16:creationId xmlns:a16="http://schemas.microsoft.com/office/drawing/2014/main" id="{24D6263F-C6BA-4A96-8EFC-F318064B790B}"/>
              </a:ext>
            </a:extLst>
          </p:cNvPr>
          <p:cNvSpPr>
            <a:spLocks noGrp="1"/>
          </p:cNvSpPr>
          <p:nvPr/>
        </p:nvSpPr>
        <p:spPr>
          <a:xfrm>
            <a:off x="8429625" y="4810125"/>
            <a:ext cx="3143250" cy="428625"/>
          </a:xfrm>
          <a:prstGeom prst="rect">
            <a:avLst/>
          </a:prstGeom>
          <a:noFill/>
          <a:ln w="0">
            <a:noFill/>
          </a:ln>
        </p:spPr>
        <p:txBody>
          <a:bodyPr>
            <a:noAutofit/>
          </a:bodyPr>
          <a:lstStyle/>
          <a:p>
            <a:pPr>
              <a:defRPr sz="2250" b="1">
                <a:solidFill>
                  <a:srgbClr val="E9496E"/>
                </a:solidFill>
                <a:latin typeface="Calibri"/>
                <a:ea typeface="Calibri"/>
                <a:cs typeface="Calibri"/>
              </a:defRPr>
            </a:pPr>
            <a:r>
              <a:rPr sz="2250" b="1">
                <a:solidFill>
                  <a:srgbClr val="E9496E"/>
                </a:solidFill>
                <a:latin typeface="Calibri"/>
                <a:ea typeface="Calibri"/>
                <a:cs typeface="Calibri"/>
              </a:rPr>
              <a:t>OHNE KI</a:t>
            </a:r>
          </a:p>
        </p:txBody>
      </p:sp>
      <p:sp>
        <p:nvSpPr>
          <p:cNvPr id="9" name="ca. 2–3 Stunden">
            <a:extLst>
              <a:ext uri="{FF2B5EF4-FFF2-40B4-BE49-F238E27FC236}">
                <a16:creationId xmlns:a16="http://schemas.microsoft.com/office/drawing/2014/main" id="{B27AA965-BA93-421A-A211-14D1050667BF}"/>
              </a:ext>
            </a:extLst>
          </p:cNvPr>
          <p:cNvSpPr>
            <a:spLocks noGrp="1"/>
          </p:cNvSpPr>
          <p:nvPr/>
        </p:nvSpPr>
        <p:spPr>
          <a:xfrm>
            <a:off x="8429625" y="5314950"/>
            <a:ext cx="3333750" cy="619125"/>
          </a:xfrm>
          <a:prstGeom prst="rect">
            <a:avLst/>
          </a:prstGeom>
          <a:noFill/>
          <a:ln w="0">
            <a:noFill/>
          </a:ln>
        </p:spPr>
        <p:txBody>
          <a:bodyPr>
            <a:noAutofit/>
          </a:bodyPr>
          <a:lstStyle/>
          <a:p>
            <a:pPr>
              <a:defRPr sz="2850" b="1">
                <a:solidFill>
                  <a:srgbClr val="E9496E"/>
                </a:solidFill>
                <a:latin typeface="Calibri"/>
                <a:ea typeface="Calibri"/>
                <a:cs typeface="Calibri"/>
              </a:defRPr>
            </a:pPr>
            <a:r>
              <a:rPr sz="2850" b="1">
                <a:solidFill>
                  <a:srgbClr val="E9496E"/>
                </a:solidFill>
                <a:latin typeface="Calibri"/>
                <a:ea typeface="Calibri"/>
                <a:cs typeface="Calibri"/>
              </a:rPr>
              <a:t>ca. 2–3 Stunden</a:t>
            </a:r>
          </a:p>
        </p:txBody>
      </p:sp>
      <p:sp>
        <p:nvSpPr>
          <p:cNvPr id="10" name="geschätzter Zeiteinsatz">
            <a:extLst>
              <a:ext uri="{FF2B5EF4-FFF2-40B4-BE49-F238E27FC236}">
                <a16:creationId xmlns:a16="http://schemas.microsoft.com/office/drawing/2014/main" id="{BFF9B9AF-198C-47B9-8BFC-3FA83A934D7A}"/>
              </a:ext>
            </a:extLst>
          </p:cNvPr>
          <p:cNvSpPr>
            <a:spLocks noGrp="1"/>
          </p:cNvSpPr>
          <p:nvPr/>
        </p:nvSpPr>
        <p:spPr>
          <a:xfrm>
            <a:off x="8429625" y="6000750"/>
            <a:ext cx="3333750" cy="400050"/>
          </a:xfrm>
          <a:prstGeom prst="rect">
            <a:avLst/>
          </a:prstGeom>
          <a:noFill/>
          <a:ln w="0">
            <a:noFill/>
          </a:ln>
        </p:spPr>
        <p:txBody>
          <a:bodyPr>
            <a:noAutofit/>
          </a:body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geschätzter Zeiteinsatz</a:t>
            </a:r>
          </a:p>
        </p:txBody>
      </p:sp>
    </p:spTree>
    <p:extLst>
      <p:ext uri="{BB962C8B-B14F-4D97-AF65-F5344CB8AC3E}">
        <p14:creationId xmlns:p14="http://schemas.microsoft.com/office/powerpoint/2010/main" val="3130921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E3F78-9E37-9991-BAB2-0E0902F814EB}"/>
            </a:ext>
          </a:extLst>
        </p:cNvPr>
        <p:cNvGrpSpPr/>
        <p:nvPr/>
      </p:nvGrpSpPr>
      <p:grpSpPr>
        <a:xfrm>
          <a:off x="0" y="0"/>
          <a:ext cx="0" cy="0"/>
          <a:chOff x="0" y="0"/>
          <a:chExt cx="0" cy="0"/>
        </a:xfrm>
      </p:grpSpPr>
      <p:pic>
        <p:nvPicPr>
          <p:cNvPr id="4" name="Grafik 3">
            <a:extLst>
              <a:ext uri="{FF2B5EF4-FFF2-40B4-BE49-F238E27FC236}">
                <a16:creationId xmlns:a16="http://schemas.microsoft.com/office/drawing/2014/main" id="{2D3FE52F-8319-2379-1476-ABC300A75F03}"/>
              </a:ext>
            </a:extLst>
          </p:cNvPr>
          <p:cNvPicPr>
            <a:picLocks noChangeAspect="1"/>
          </p:cNvPicPr>
          <p:nvPr/>
        </p:nvPicPr>
        <p:blipFill>
          <a:blip r:embed="rId2"/>
          <a:stretch>
            <a:fillRect/>
          </a:stretch>
        </p:blipFill>
        <p:spPr>
          <a:xfrm>
            <a:off x="1685884" y="1099800"/>
            <a:ext cx="3683839" cy="4604800"/>
          </a:xfrm>
          <a:prstGeom prst="rect">
            <a:avLst/>
          </a:prstGeom>
        </p:spPr>
      </p:pic>
      <p:pic>
        <p:nvPicPr>
          <p:cNvPr id="8" name="Grafik 7">
            <a:extLst>
              <a:ext uri="{FF2B5EF4-FFF2-40B4-BE49-F238E27FC236}">
                <a16:creationId xmlns:a16="http://schemas.microsoft.com/office/drawing/2014/main" id="{95721118-2CD1-D369-3D0D-02A753C97F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6863" y="1919455"/>
            <a:ext cx="4814655" cy="3012944"/>
          </a:xfrm>
          <a:prstGeom prst="rect">
            <a:avLst/>
          </a:prstGeom>
        </p:spPr>
      </p:pic>
    </p:spTree>
    <p:extLst>
      <p:ext uri="{BB962C8B-B14F-4D97-AF65-F5344CB8AC3E}">
        <p14:creationId xmlns:p14="http://schemas.microsoft.com/office/powerpoint/2010/main" val="1481902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nhaltsplatzhalter 4">
            <a:extLst>
              <a:ext uri="{FF2B5EF4-FFF2-40B4-BE49-F238E27FC236}">
                <a16:creationId xmlns:a16="http://schemas.microsoft.com/office/drawing/2014/main" id="{9223EC05-95A9-2ED6-03D9-06F9F42587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78098" y="735892"/>
            <a:ext cx="4435803" cy="4397399"/>
          </a:xfrm>
          <a:prstGeom prst="rect">
            <a:avLst/>
          </a:prstGeom>
        </p:spPr>
      </p:pic>
      <p:pic>
        <p:nvPicPr>
          <p:cNvPr id="6" name="Grafik 5">
            <a:extLst>
              <a:ext uri="{FF2B5EF4-FFF2-40B4-BE49-F238E27FC236}">
                <a16:creationId xmlns:a16="http://schemas.microsoft.com/office/drawing/2014/main" id="{BD2079FD-8273-983E-BB1E-17902FE86F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44970" y="2107302"/>
            <a:ext cx="1502059" cy="1637379"/>
          </a:xfrm>
          <a:prstGeom prst="rect">
            <a:avLst/>
          </a:prstGeom>
        </p:spPr>
      </p:pic>
      <p:pic>
        <p:nvPicPr>
          <p:cNvPr id="9" name="Grafik 8">
            <a:extLst>
              <a:ext uri="{FF2B5EF4-FFF2-40B4-BE49-F238E27FC236}">
                <a16:creationId xmlns:a16="http://schemas.microsoft.com/office/drawing/2014/main" id="{6E198181-9277-194E-6EE5-69105A6931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69836" y="5412033"/>
            <a:ext cx="6052328" cy="479920"/>
          </a:xfrm>
          <a:prstGeom prst="rect">
            <a:avLst/>
          </a:prstGeom>
        </p:spPr>
      </p:pic>
      <p:sp>
        <p:nvSpPr>
          <p:cNvPr id="5" name="Textfeld 4">
            <a:extLst>
              <a:ext uri="{FF2B5EF4-FFF2-40B4-BE49-F238E27FC236}">
                <a16:creationId xmlns:a16="http://schemas.microsoft.com/office/drawing/2014/main" id="{F22BF109-4723-9800-BBF7-7E34A4A8FDFA}"/>
              </a:ext>
            </a:extLst>
          </p:cNvPr>
          <p:cNvSpPr txBox="1"/>
          <p:nvPr/>
        </p:nvSpPr>
        <p:spPr>
          <a:xfrm>
            <a:off x="2760764" y="6122108"/>
            <a:ext cx="5981641" cy="341632"/>
          </a:xfrm>
          <a:prstGeom prst="rect">
            <a:avLst/>
          </a:prstGeom>
          <a:noFill/>
        </p:spPr>
        <p:txBody>
          <a:bodyPr wrap="square">
            <a:spAutoFit/>
          </a:bodyPr>
          <a:lstStyle/>
          <a:p>
            <a:pPr algn="ctr">
              <a:lnSpc>
                <a:spcPct val="90000"/>
              </a:lnSpc>
              <a:spcAft>
                <a:spcPts val="600"/>
              </a:spcAft>
            </a:pPr>
            <a:r>
              <a:rPr lang="en-US" sz="1800" b="1" dirty="0">
                <a:solidFill>
                  <a:srgbClr val="E9496E"/>
                </a:solidFill>
              </a:rPr>
              <a:t>business-netzwerk-wilsdruff.de/sign-in</a:t>
            </a:r>
          </a:p>
        </p:txBody>
      </p:sp>
      <p:pic>
        <p:nvPicPr>
          <p:cNvPr id="2" name="Grafik 1">
            <a:extLst>
              <a:ext uri="{FF2B5EF4-FFF2-40B4-BE49-F238E27FC236}">
                <a16:creationId xmlns:a16="http://schemas.microsoft.com/office/drawing/2014/main" id="{D20A7107-0C29-1FA0-559D-D2E6F8D43A2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91997" y="0"/>
            <a:ext cx="1800003" cy="1126417"/>
          </a:xfrm>
          <a:prstGeom prst="rect">
            <a:avLst/>
          </a:prstGeom>
        </p:spPr>
      </p:pic>
    </p:spTree>
    <p:extLst>
      <p:ext uri="{BB962C8B-B14F-4D97-AF65-F5344CB8AC3E}">
        <p14:creationId xmlns:p14="http://schemas.microsoft.com/office/powerpoint/2010/main" val="168725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f9e8aa9-78ac-486c-9f75-fe8806c63be4" xsi:nil="true"/>
    <lcf76f155ced4ddcb4097134ff3c332f xmlns="e15f62a6-4c47-4fe5-9f7e-7d85f11f205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F07A214375FC56438BD6B2D5BE5F3113" ma:contentTypeVersion="15" ma:contentTypeDescription="Ein neues Dokument erstellen." ma:contentTypeScope="" ma:versionID="267e2f3e228e72580305ebdac6d77050">
  <xsd:schema xmlns:xsd="http://www.w3.org/2001/XMLSchema" xmlns:xs="http://www.w3.org/2001/XMLSchema" xmlns:p="http://schemas.microsoft.com/office/2006/metadata/properties" xmlns:ns2="e15f62a6-4c47-4fe5-9f7e-7d85f11f2059" xmlns:ns3="bf9e8aa9-78ac-486c-9f75-fe8806c63be4" targetNamespace="http://schemas.microsoft.com/office/2006/metadata/properties" ma:root="true" ma:fieldsID="6839e5b59cf84098fcae7a27a75f190d" ns2:_="" ns3:_="">
    <xsd:import namespace="e15f62a6-4c47-4fe5-9f7e-7d85f11f2059"/>
    <xsd:import namespace="bf9e8aa9-78ac-486c-9f75-fe8806c63be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f62a6-4c47-4fe5-9f7e-7d85f11f20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ildmarkierungen" ma:readOnly="false" ma:fieldId="{5cf76f15-5ced-4ddc-b409-7134ff3c332f}" ma:taxonomyMulti="true" ma:sspId="632d1ca3-b183-4580-bfee-6c39b519593c"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f9e8aa9-78ac-486c-9f75-fe8806c63be4"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ed0e128-c286-40ec-9601-f641a0c66611}" ma:internalName="TaxCatchAll" ma:showField="CatchAllData" ma:web="bf9e8aa9-78ac-486c-9f75-fe8806c63be4">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A77FBF-41D5-4F63-AE41-4BBA8EA214BE}">
  <ds:schemaRefs>
    <ds:schemaRef ds:uri="http://schemas.microsoft.com/office/2006/metadata/properties"/>
    <ds:schemaRef ds:uri="http://schemas.microsoft.com/office/infopath/2007/PartnerControls"/>
    <ds:schemaRef ds:uri="bf9e8aa9-78ac-486c-9f75-fe8806c63be4"/>
    <ds:schemaRef ds:uri="e15f62a6-4c47-4fe5-9f7e-7d85f11f2059"/>
  </ds:schemaRefs>
</ds:datastoreItem>
</file>

<file path=customXml/itemProps2.xml><?xml version="1.0" encoding="utf-8"?>
<ds:datastoreItem xmlns:ds="http://schemas.openxmlformats.org/officeDocument/2006/customXml" ds:itemID="{13D05403-8898-4603-871A-B97CAB04CD7B}">
  <ds:schemaRefs>
    <ds:schemaRef ds:uri="http://schemas.microsoft.com/sharepoint/v3/contenttype/forms"/>
  </ds:schemaRefs>
</ds:datastoreItem>
</file>

<file path=customXml/itemProps3.xml><?xml version="1.0" encoding="utf-8"?>
<ds:datastoreItem xmlns:ds="http://schemas.openxmlformats.org/officeDocument/2006/customXml" ds:itemID="{1208FE50-9158-4388-BB73-48BB032578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f62a6-4c47-4fe5-9f7e-7d85f11f2059"/>
    <ds:schemaRef ds:uri="bf9e8aa9-78ac-486c-9f75-fe8806c63b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1514</Words>
  <Application>Microsoft Office PowerPoint</Application>
  <DocSecurity>0</DocSecurity>
  <PresentationFormat>Breitbild</PresentationFormat>
  <Paragraphs>150</Paragraphs>
  <Slides>15</Slides>
  <Notes>9</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15</vt:i4>
      </vt:variant>
    </vt:vector>
  </HeadingPairs>
  <TitlesOfParts>
    <vt:vector size="19" baseType="lpstr">
      <vt:lpstr>Arial</vt:lpstr>
      <vt:lpstr>Calibri</vt:lpstr>
      <vt:lpstr>Calibri Light</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Thomas Gräbner</cp:lastModifiedBy>
  <cp:revision>3</cp:revision>
  <cp:lastPrinted>2026-10-01T10:18:03Z</cp:lastPrinted>
  <dcterms:created xsi:type="dcterms:W3CDTF">2026-10-01T09:46:35Z</dcterms:created>
  <dcterms:modified xsi:type="dcterms:W3CDTF">2026-10-06T08:28:01Z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0x010100F07A214375FC56438BD6B2D5BE5F3113</vt:lpwstr>
  </property>
  <property fmtid="{D5CDD505-2E9C-101B-9397-08002B2CF9AE}" pid="3" name="MediaServiceImageTags">
    <vt:lpwstr/>
  </property>
</Properties>
</file>